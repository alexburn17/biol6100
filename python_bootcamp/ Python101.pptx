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21"/>
  </p:notesMasterIdLst>
  <p:sldIdLst>
    <p:sldId id="327" r:id="rId2"/>
    <p:sldId id="294" r:id="rId3"/>
    <p:sldId id="323" r:id="rId4"/>
    <p:sldId id="317" r:id="rId5"/>
    <p:sldId id="316" r:id="rId6"/>
    <p:sldId id="328" r:id="rId7"/>
    <p:sldId id="321" r:id="rId8"/>
    <p:sldId id="322" r:id="rId9"/>
    <p:sldId id="315" r:id="rId10"/>
    <p:sldId id="318" r:id="rId11"/>
    <p:sldId id="319" r:id="rId12"/>
    <p:sldId id="329" r:id="rId13"/>
    <p:sldId id="313" r:id="rId14"/>
    <p:sldId id="301" r:id="rId15"/>
    <p:sldId id="304" r:id="rId16"/>
    <p:sldId id="305" r:id="rId17"/>
    <p:sldId id="312" r:id="rId18"/>
    <p:sldId id="326" r:id="rId19"/>
    <p:sldId id="292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176"/>
    <p:restoredTop sz="94752"/>
  </p:normalViewPr>
  <p:slideViewPr>
    <p:cSldViewPr snapToGrid="0" snapToObjects="1">
      <p:cViewPr varScale="1">
        <p:scale>
          <a:sx n="112" d="100"/>
          <a:sy n="112" d="100"/>
        </p:scale>
        <p:origin x="200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B655EC-3BDD-8748-9DAB-B505E0EBC127}" type="datetimeFigureOut">
              <a:rPr lang="en-US" smtClean="0"/>
              <a:t>3/17/26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665BC1-C622-5340-8072-EB2A8B709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758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0924F-1C89-9F4D-AA8B-982AFE68DED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2142C-C4E9-A149-A0EC-5403C381B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043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0924F-1C89-9F4D-AA8B-982AFE68DED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2142C-C4E9-A149-A0EC-5403C381B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359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0924F-1C89-9F4D-AA8B-982AFE68DED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2142C-C4E9-A149-A0EC-5403C381B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288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0924F-1C89-9F4D-AA8B-982AFE68DED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2142C-C4E9-A149-A0EC-5403C381B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912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0924F-1C89-9F4D-AA8B-982AFE68DED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2142C-C4E9-A149-A0EC-5403C381B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320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0924F-1C89-9F4D-AA8B-982AFE68DED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2142C-C4E9-A149-A0EC-5403C381B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613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0924F-1C89-9F4D-AA8B-982AFE68DED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2142C-C4E9-A149-A0EC-5403C381B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206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0924F-1C89-9F4D-AA8B-982AFE68DED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2142C-C4E9-A149-A0EC-5403C381B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545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0924F-1C89-9F4D-AA8B-982AFE68DED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2142C-C4E9-A149-A0EC-5403C381B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968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0924F-1C89-9F4D-AA8B-982AFE68DED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2142C-C4E9-A149-A0EC-5403C381B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699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0924F-1C89-9F4D-AA8B-982AFE68DED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2142C-C4E9-A149-A0EC-5403C381B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081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80924F-1C89-9F4D-AA8B-982AFE68DED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32142C-C4E9-A149-A0EC-5403C381B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500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Slide Background">
            <a:extLst>
              <a:ext uri="{FF2B5EF4-FFF2-40B4-BE49-F238E27FC236}">
                <a16:creationId xmlns:a16="http://schemas.microsoft.com/office/drawing/2014/main" id="{649C91A9-84E7-4BF0-9026-62F01380D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BE9878-7DF0-936D-BC0F-B3A260618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2" y="762001"/>
            <a:ext cx="4080362" cy="170824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Biology 6100</a:t>
            </a:r>
            <a:b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Intro to Python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389162-C8A1-3ED6-32BD-CA5CCC2C10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1803" y="2470244"/>
            <a:ext cx="4080361" cy="376983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/>
              <a:t>P. Alexander Burnham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/>
              <a:t>17 March 2026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47378D-AD27-45D0-8C1C-5B1098DCC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200" y="0"/>
            <a:ext cx="67817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77800" dist="215900" dir="8520000" sx="94000" sy="94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4EA0F194-8967-A2F1-C280-7E52A462E98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7607" r="7607"/>
          <a:stretch/>
        </p:blipFill>
        <p:spPr>
          <a:xfrm>
            <a:off x="6340738" y="737488"/>
            <a:ext cx="4844721" cy="538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8349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B7D35991-D8F4-329C-A16C-BB8C9AB5C04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7607" r="7607"/>
          <a:stretch/>
        </p:blipFill>
        <p:spPr>
          <a:xfrm>
            <a:off x="10096108" y="144145"/>
            <a:ext cx="1887969" cy="2098455"/>
          </a:xfrm>
          <a:prstGeom prst="rect">
            <a:avLst/>
          </a:prstGeom>
        </p:spPr>
      </p:pic>
      <p:sp>
        <p:nvSpPr>
          <p:cNvPr id="26" name="Title 1">
            <a:extLst>
              <a:ext uri="{FF2B5EF4-FFF2-40B4-BE49-F238E27FC236}">
                <a16:creationId xmlns:a16="http://schemas.microsoft.com/office/drawing/2014/main" id="{9205852F-1FB3-D85C-872B-EDADC16ED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345" y="330864"/>
            <a:ext cx="10515600" cy="1325563"/>
          </a:xfrm>
        </p:spPr>
        <p:txBody>
          <a:bodyPr>
            <a:normAutofit/>
          </a:bodyPr>
          <a:lstStyle/>
          <a:p>
            <a:r>
              <a:rPr lang="en-US" sz="6600" dirty="0"/>
              <a:t>What is Python?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07AEBD-0359-D0D7-937E-FCE4CFD8FAB0}"/>
              </a:ext>
            </a:extLst>
          </p:cNvPr>
          <p:cNvSpPr txBox="1"/>
          <p:nvPr/>
        </p:nvSpPr>
        <p:spPr>
          <a:xfrm>
            <a:off x="241597" y="2429319"/>
            <a:ext cx="11459676" cy="55092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4400" b="0" i="0" dirty="0">
                <a:solidFill>
                  <a:srgbClr val="202122"/>
                </a:solidFill>
                <a:effectLst/>
              </a:rPr>
              <a:t>Python is a general programming language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202122"/>
                </a:solidFill>
              </a:rPr>
              <a:t>It is high-level object-oriented language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4400" b="0" i="0" dirty="0">
                <a:solidFill>
                  <a:srgbClr val="202122"/>
                </a:solidFill>
                <a:effectLst/>
              </a:rPr>
              <a:t>It has a focus on simplicity/readability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4400" b="0" i="0" dirty="0">
                <a:solidFill>
                  <a:srgbClr val="202122"/>
                </a:solidFill>
                <a:effectLst/>
              </a:rPr>
              <a:t>A very versatile/powerful open source language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202122"/>
                </a:solidFill>
              </a:rPr>
              <a:t>Highly favored by developers and data scientists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4400" b="0" i="0" dirty="0">
              <a:solidFill>
                <a:srgbClr val="202122"/>
              </a:solidFill>
              <a:effectLst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4400" b="0" i="0" dirty="0">
              <a:solidFill>
                <a:srgbClr val="202122"/>
              </a:solidFill>
              <a:effectLst/>
            </a:endParaRPr>
          </a:p>
          <a:p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929362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B7D35991-D8F4-329C-A16C-BB8C9AB5C04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7607" r="7607"/>
          <a:stretch/>
        </p:blipFill>
        <p:spPr>
          <a:xfrm>
            <a:off x="10096108" y="144145"/>
            <a:ext cx="1887969" cy="2098455"/>
          </a:xfrm>
          <a:prstGeom prst="rect">
            <a:avLst/>
          </a:prstGeom>
        </p:spPr>
      </p:pic>
      <p:sp>
        <p:nvSpPr>
          <p:cNvPr id="26" name="Title 1">
            <a:extLst>
              <a:ext uri="{FF2B5EF4-FFF2-40B4-BE49-F238E27FC236}">
                <a16:creationId xmlns:a16="http://schemas.microsoft.com/office/drawing/2014/main" id="{9205852F-1FB3-D85C-872B-EDADC16ED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345" y="330864"/>
            <a:ext cx="10515600" cy="1325563"/>
          </a:xfrm>
        </p:spPr>
        <p:txBody>
          <a:bodyPr>
            <a:normAutofit/>
          </a:bodyPr>
          <a:lstStyle/>
          <a:p>
            <a:r>
              <a:rPr lang="en-US" sz="6600" dirty="0"/>
              <a:t>Python History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07AEBD-0359-D0D7-937E-FCE4CFD8FAB0}"/>
              </a:ext>
            </a:extLst>
          </p:cNvPr>
          <p:cNvSpPr txBox="1"/>
          <p:nvPr/>
        </p:nvSpPr>
        <p:spPr>
          <a:xfrm>
            <a:off x="310345" y="2325625"/>
            <a:ext cx="9789475" cy="4832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4400" b="0" i="0" dirty="0">
                <a:solidFill>
                  <a:srgbClr val="202122"/>
                </a:solidFill>
                <a:effectLst/>
              </a:rPr>
              <a:t>Developed by Guido van Rossum in 1989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400" b="0" i="0" dirty="0">
                <a:solidFill>
                  <a:srgbClr val="202122"/>
                </a:solidFill>
                <a:effectLst/>
              </a:rPr>
              <a:t>Written in C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202122"/>
                </a:solidFill>
              </a:rPr>
              <a:t>Python 2.0 launched in 2000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202122"/>
                </a:solidFill>
              </a:rPr>
              <a:t>Python 3.0 launched in 2008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202122"/>
                </a:solidFill>
              </a:rPr>
              <a:t>Most notable for its design philosophy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4400" b="0" i="0" dirty="0">
              <a:solidFill>
                <a:srgbClr val="202122"/>
              </a:solidFill>
              <a:effectLst/>
            </a:endParaRPr>
          </a:p>
          <a:p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4017742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B7D35991-D8F4-329C-A16C-BB8C9AB5C04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7607" r="7607"/>
          <a:stretch/>
        </p:blipFill>
        <p:spPr>
          <a:xfrm>
            <a:off x="10096108" y="144145"/>
            <a:ext cx="1887969" cy="2098455"/>
          </a:xfrm>
          <a:prstGeom prst="rect">
            <a:avLst/>
          </a:prstGeom>
        </p:spPr>
      </p:pic>
      <p:sp>
        <p:nvSpPr>
          <p:cNvPr id="26" name="Title 1">
            <a:extLst>
              <a:ext uri="{FF2B5EF4-FFF2-40B4-BE49-F238E27FC236}">
                <a16:creationId xmlns:a16="http://schemas.microsoft.com/office/drawing/2014/main" id="{9205852F-1FB3-D85C-872B-EDADC16ED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345" y="330864"/>
            <a:ext cx="10515600" cy="1325563"/>
          </a:xfrm>
        </p:spPr>
        <p:txBody>
          <a:bodyPr>
            <a:normAutofit/>
          </a:bodyPr>
          <a:lstStyle/>
          <a:p>
            <a:r>
              <a:rPr lang="en-US" sz="6600" dirty="0"/>
              <a:t>Python Culture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3EEFE3-9901-FC03-7972-A423EC4CBC26}"/>
              </a:ext>
            </a:extLst>
          </p:cNvPr>
          <p:cNvSpPr txBox="1"/>
          <p:nvPr/>
        </p:nvSpPr>
        <p:spPr>
          <a:xfrm>
            <a:off x="833216" y="2063491"/>
            <a:ext cx="8740021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4400" b="0" i="0" dirty="0">
                <a:solidFill>
                  <a:srgbClr val="202122"/>
                </a:solidFill>
                <a:effectLst/>
              </a:rPr>
              <a:t>Beautiful is better than </a:t>
            </a:r>
            <a:r>
              <a:rPr lang="en-US" sz="4400" dirty="0">
                <a:solidFill>
                  <a:srgbClr val="202122"/>
                </a:solidFill>
              </a:rPr>
              <a:t>messy</a:t>
            </a:r>
            <a:r>
              <a:rPr lang="en-US" sz="4400" b="0" i="0" dirty="0">
                <a:solidFill>
                  <a:srgbClr val="202122"/>
                </a:solidFill>
                <a:effectLst/>
              </a:rPr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4400" b="0" i="0" dirty="0">
                <a:solidFill>
                  <a:srgbClr val="202122"/>
                </a:solidFill>
                <a:effectLst/>
              </a:rPr>
              <a:t>Explicit is better than implicit.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4400" b="0" i="0" dirty="0">
                <a:solidFill>
                  <a:srgbClr val="202122"/>
                </a:solidFill>
                <a:effectLst/>
              </a:rPr>
              <a:t>Simple is better than complex.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4400" b="0" i="0" dirty="0">
                <a:solidFill>
                  <a:srgbClr val="202122"/>
                </a:solidFill>
                <a:effectLst/>
              </a:rPr>
              <a:t>Complex is better than complicated.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4400" b="0" i="0" dirty="0">
                <a:solidFill>
                  <a:srgbClr val="202122"/>
                </a:solidFill>
                <a:effectLst/>
              </a:rPr>
              <a:t>Readability counts.</a:t>
            </a:r>
          </a:p>
          <a:p>
            <a:endParaRPr lang="en-US" sz="4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D2C404-8014-2CC0-E857-97AD1AD0798A}"/>
              </a:ext>
            </a:extLst>
          </p:cNvPr>
          <p:cNvSpPr txBox="1"/>
          <p:nvPr/>
        </p:nvSpPr>
        <p:spPr>
          <a:xfrm>
            <a:off x="6096000" y="5542961"/>
            <a:ext cx="2338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Zen of Python, PEP20</a:t>
            </a:r>
          </a:p>
        </p:txBody>
      </p:sp>
    </p:spTree>
    <p:extLst>
      <p:ext uri="{BB962C8B-B14F-4D97-AF65-F5344CB8AC3E}">
        <p14:creationId xmlns:p14="http://schemas.microsoft.com/office/powerpoint/2010/main" val="30185534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B7D35991-D8F4-329C-A16C-BB8C9AB5C04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7607" r="7607"/>
          <a:stretch/>
        </p:blipFill>
        <p:spPr>
          <a:xfrm>
            <a:off x="10096108" y="144145"/>
            <a:ext cx="1887969" cy="2098455"/>
          </a:xfrm>
          <a:prstGeom prst="rect">
            <a:avLst/>
          </a:prstGeom>
        </p:spPr>
      </p:pic>
      <p:sp>
        <p:nvSpPr>
          <p:cNvPr id="26" name="Title 1">
            <a:extLst>
              <a:ext uri="{FF2B5EF4-FFF2-40B4-BE49-F238E27FC236}">
                <a16:creationId xmlns:a16="http://schemas.microsoft.com/office/drawing/2014/main" id="{9205852F-1FB3-D85C-872B-EDADC16ED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345" y="330864"/>
            <a:ext cx="10515600" cy="1325563"/>
          </a:xfrm>
        </p:spPr>
        <p:txBody>
          <a:bodyPr>
            <a:normAutofit/>
          </a:bodyPr>
          <a:lstStyle/>
          <a:p>
            <a:r>
              <a:rPr lang="en-US" sz="6600" dirty="0"/>
              <a:t>What is it good for?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B4ACD6D-13C8-98DD-1206-3F642EF6510A}"/>
              </a:ext>
            </a:extLst>
          </p:cNvPr>
          <p:cNvSpPr txBox="1"/>
          <p:nvPr/>
        </p:nvSpPr>
        <p:spPr>
          <a:xfrm>
            <a:off x="965192" y="1656427"/>
            <a:ext cx="7547212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202122"/>
                </a:solidFill>
              </a:rPr>
              <a:t>Web/software development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202122"/>
                </a:solidFill>
              </a:rPr>
              <a:t>Machine Learning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4400" b="0" i="0" dirty="0">
                <a:solidFill>
                  <a:srgbClr val="202122"/>
                </a:solidFill>
                <a:effectLst/>
              </a:rPr>
              <a:t>Mathematical Modeling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202122"/>
                </a:solidFill>
              </a:rPr>
              <a:t>Network science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202122"/>
                </a:solidFill>
              </a:rPr>
              <a:t>Data analysis and visualization</a:t>
            </a:r>
          </a:p>
          <a:p>
            <a:pPr algn="l"/>
            <a:endParaRPr lang="en-US" sz="4400" dirty="0">
              <a:solidFill>
                <a:srgbClr val="202122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4400" b="0" i="0" dirty="0">
              <a:solidFill>
                <a:srgbClr val="202122"/>
              </a:solidFill>
              <a:effectLst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4400" b="0" i="0" dirty="0">
              <a:solidFill>
                <a:srgbClr val="202122"/>
              </a:solidFill>
              <a:effectLst/>
            </a:endParaRPr>
          </a:p>
          <a:p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584054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B0E6FF-A324-5860-138B-855D671DD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C55D144D-E9E9-16A2-DD57-7BFE166BB4A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7607" r="7607"/>
          <a:stretch/>
        </p:blipFill>
        <p:spPr>
          <a:xfrm>
            <a:off x="10096108" y="144145"/>
            <a:ext cx="1887969" cy="2098455"/>
          </a:xfrm>
          <a:prstGeom prst="rect">
            <a:avLst/>
          </a:prstGeom>
        </p:spPr>
      </p:pic>
      <p:sp>
        <p:nvSpPr>
          <p:cNvPr id="26" name="Title 1">
            <a:extLst>
              <a:ext uri="{FF2B5EF4-FFF2-40B4-BE49-F238E27FC236}">
                <a16:creationId xmlns:a16="http://schemas.microsoft.com/office/drawing/2014/main" id="{20FA3F03-38C7-7710-1375-096886D08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345" y="330864"/>
            <a:ext cx="10515600" cy="1325563"/>
          </a:xfrm>
        </p:spPr>
        <p:txBody>
          <a:bodyPr>
            <a:normAutofit/>
          </a:bodyPr>
          <a:lstStyle/>
          <a:p>
            <a:r>
              <a:rPr lang="en-US" sz="6600" dirty="0"/>
              <a:t>What is it good for?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951C73-382B-B37E-1FB7-1650C0A68A7F}"/>
              </a:ext>
            </a:extLst>
          </p:cNvPr>
          <p:cNvSpPr txBox="1"/>
          <p:nvPr/>
        </p:nvSpPr>
        <p:spPr>
          <a:xfrm>
            <a:off x="965192" y="1656427"/>
            <a:ext cx="7547212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202122"/>
                </a:solidFill>
              </a:rPr>
              <a:t>Web/software development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202122"/>
                </a:solidFill>
              </a:rPr>
              <a:t>Machine Learning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4400" b="0" i="0" dirty="0">
                <a:solidFill>
                  <a:srgbClr val="202122"/>
                </a:solidFill>
                <a:effectLst/>
              </a:rPr>
              <a:t>Mathematical Modeling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202122"/>
                </a:solidFill>
              </a:rPr>
              <a:t>Network science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202122"/>
                </a:solidFill>
              </a:rPr>
              <a:t>Data analysis and visualization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202122"/>
                </a:solidFill>
              </a:rPr>
              <a:t>Anything and Everything</a:t>
            </a:r>
          </a:p>
          <a:p>
            <a:pPr algn="l"/>
            <a:endParaRPr lang="en-US" sz="4400" dirty="0">
              <a:solidFill>
                <a:srgbClr val="202122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4400" b="0" i="0" dirty="0">
              <a:solidFill>
                <a:srgbClr val="202122"/>
              </a:solidFill>
              <a:effectLst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4400" b="0" i="0" dirty="0">
              <a:solidFill>
                <a:srgbClr val="202122"/>
              </a:solidFill>
              <a:effectLst/>
            </a:endParaRPr>
          </a:p>
          <a:p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1664892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B7D35991-D8F4-329C-A16C-BB8C9AB5C04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7607" r="7607"/>
          <a:stretch/>
        </p:blipFill>
        <p:spPr>
          <a:xfrm>
            <a:off x="10096108" y="144145"/>
            <a:ext cx="1887969" cy="2098455"/>
          </a:xfrm>
          <a:prstGeom prst="rect">
            <a:avLst/>
          </a:prstGeom>
        </p:spPr>
      </p:pic>
      <p:sp>
        <p:nvSpPr>
          <p:cNvPr id="26" name="Title 1">
            <a:extLst>
              <a:ext uri="{FF2B5EF4-FFF2-40B4-BE49-F238E27FC236}">
                <a16:creationId xmlns:a16="http://schemas.microsoft.com/office/drawing/2014/main" id="{9205852F-1FB3-D85C-872B-EDADC16ED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345" y="330864"/>
            <a:ext cx="10515600" cy="1325563"/>
          </a:xfrm>
        </p:spPr>
        <p:txBody>
          <a:bodyPr>
            <a:normAutofit/>
          </a:bodyPr>
          <a:lstStyle/>
          <a:p>
            <a:r>
              <a:rPr lang="en-US" sz="6600" dirty="0"/>
              <a:t>What sites/apps use it?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4F947A-E193-8024-D0A7-3AE6D1539464}"/>
              </a:ext>
            </a:extLst>
          </p:cNvPr>
          <p:cNvSpPr txBox="1"/>
          <p:nvPr/>
        </p:nvSpPr>
        <p:spPr>
          <a:xfrm>
            <a:off x="965192" y="1656427"/>
            <a:ext cx="4756878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4400" b="0" i="0" dirty="0">
                <a:solidFill>
                  <a:srgbClr val="202122"/>
                </a:solidFill>
                <a:effectLst/>
              </a:rPr>
              <a:t>Google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4400" b="0" i="0" dirty="0">
                <a:solidFill>
                  <a:srgbClr val="202122"/>
                </a:solidFill>
                <a:effectLst/>
              </a:rPr>
              <a:t>Spotify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4400" dirty="0" err="1">
                <a:solidFill>
                  <a:srgbClr val="202122"/>
                </a:solidFill>
              </a:rPr>
              <a:t>y</a:t>
            </a:r>
            <a:r>
              <a:rPr lang="en-US" sz="4400" b="0" i="0" dirty="0" err="1">
                <a:solidFill>
                  <a:srgbClr val="202122"/>
                </a:solidFill>
                <a:effectLst/>
              </a:rPr>
              <a:t>outube</a:t>
            </a:r>
            <a:endParaRPr lang="en-US" sz="4400" b="0" i="0" dirty="0">
              <a:solidFill>
                <a:srgbClr val="202122"/>
              </a:solidFill>
              <a:effectLst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202122"/>
                </a:solidFill>
              </a:rPr>
              <a:t>Dropbox</a:t>
            </a:r>
            <a:endParaRPr lang="en-US" sz="4400" b="0" i="0" dirty="0">
              <a:solidFill>
                <a:srgbClr val="202122"/>
              </a:solidFill>
              <a:effectLst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4400" b="0" i="0" dirty="0">
                <a:solidFill>
                  <a:srgbClr val="202122"/>
                </a:solidFill>
                <a:effectLst/>
              </a:rPr>
              <a:t>Instagram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202122"/>
                </a:solidFill>
              </a:rPr>
              <a:t>Uber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4400" b="0" i="0" dirty="0">
                <a:solidFill>
                  <a:srgbClr val="202122"/>
                </a:solidFill>
                <a:effectLst/>
              </a:rPr>
              <a:t>Netflix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4400" b="0" i="0" dirty="0">
              <a:solidFill>
                <a:srgbClr val="202122"/>
              </a:solidFill>
              <a:effectLst/>
            </a:endParaRPr>
          </a:p>
          <a:p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4178365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B7D35991-D8F4-329C-A16C-BB8C9AB5C04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7607" r="7607"/>
          <a:stretch/>
        </p:blipFill>
        <p:spPr>
          <a:xfrm>
            <a:off x="10096108" y="144145"/>
            <a:ext cx="1887969" cy="2098455"/>
          </a:xfrm>
          <a:prstGeom prst="rect">
            <a:avLst/>
          </a:prstGeom>
        </p:spPr>
      </p:pic>
      <p:sp>
        <p:nvSpPr>
          <p:cNvPr id="26" name="Title 1">
            <a:extLst>
              <a:ext uri="{FF2B5EF4-FFF2-40B4-BE49-F238E27FC236}">
                <a16:creationId xmlns:a16="http://schemas.microsoft.com/office/drawing/2014/main" id="{9205852F-1FB3-D85C-872B-EDADC16ED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345" y="330864"/>
            <a:ext cx="10515600" cy="1325563"/>
          </a:xfrm>
        </p:spPr>
        <p:txBody>
          <a:bodyPr>
            <a:normAutofit/>
          </a:bodyPr>
          <a:lstStyle/>
          <a:p>
            <a:r>
              <a:rPr lang="en-US" sz="6600" dirty="0"/>
              <a:t>Python Versions</a:t>
            </a:r>
          </a:p>
        </p:txBody>
      </p:sp>
      <p:pic>
        <p:nvPicPr>
          <p:cNvPr id="3" name="Picture 2" descr="A picture containing font, logo, symbol, graphics&#10;&#10;Description automatically generated">
            <a:extLst>
              <a:ext uri="{FF2B5EF4-FFF2-40B4-BE49-F238E27FC236}">
                <a16:creationId xmlns:a16="http://schemas.microsoft.com/office/drawing/2014/main" id="{CECD96BB-BBE3-B2CD-DE11-3F4E6E2D74E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3283"/>
          <a:stretch/>
        </p:blipFill>
        <p:spPr>
          <a:xfrm>
            <a:off x="1052199" y="2242600"/>
            <a:ext cx="3631011" cy="3714484"/>
          </a:xfrm>
          <a:prstGeom prst="rect">
            <a:avLst/>
          </a:prstGeom>
        </p:spPr>
      </p:pic>
      <p:pic>
        <p:nvPicPr>
          <p:cNvPr id="4" name="Picture 3" descr="A picture containing font, logo, symbol, graphics&#10;&#10;Description automatically generated">
            <a:extLst>
              <a:ext uri="{FF2B5EF4-FFF2-40B4-BE49-F238E27FC236}">
                <a16:creationId xmlns:a16="http://schemas.microsoft.com/office/drawing/2014/main" id="{EB4FC798-EF87-70FF-239F-C85AF31A4FE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4931"/>
          <a:stretch/>
        </p:blipFill>
        <p:spPr>
          <a:xfrm>
            <a:off x="6593151" y="2242600"/>
            <a:ext cx="3502957" cy="37144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0BDB8E2-0165-FF5E-83CD-FEA24846BA15}"/>
              </a:ext>
            </a:extLst>
          </p:cNvPr>
          <p:cNvSpPr txBox="1"/>
          <p:nvPr/>
        </p:nvSpPr>
        <p:spPr>
          <a:xfrm>
            <a:off x="5387546" y="3684343"/>
            <a:ext cx="8126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VS</a:t>
            </a:r>
          </a:p>
        </p:txBody>
      </p:sp>
    </p:spTree>
    <p:extLst>
      <p:ext uri="{BB962C8B-B14F-4D97-AF65-F5344CB8AC3E}">
        <p14:creationId xmlns:p14="http://schemas.microsoft.com/office/powerpoint/2010/main" val="16037553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B7D35991-D8F4-329C-A16C-BB8C9AB5C04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7607" r="7607"/>
          <a:stretch/>
        </p:blipFill>
        <p:spPr>
          <a:xfrm>
            <a:off x="10096108" y="144145"/>
            <a:ext cx="1887969" cy="2098455"/>
          </a:xfrm>
          <a:prstGeom prst="rect">
            <a:avLst/>
          </a:prstGeom>
        </p:spPr>
      </p:pic>
      <p:sp>
        <p:nvSpPr>
          <p:cNvPr id="26" name="Title 1">
            <a:extLst>
              <a:ext uri="{FF2B5EF4-FFF2-40B4-BE49-F238E27FC236}">
                <a16:creationId xmlns:a16="http://schemas.microsoft.com/office/drawing/2014/main" id="{9205852F-1FB3-D85C-872B-EDADC16ED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345" y="330864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sz="6600" dirty="0"/>
              <a:t>A focus on community modules</a:t>
            </a:r>
          </a:p>
        </p:txBody>
      </p:sp>
      <p:pic>
        <p:nvPicPr>
          <p:cNvPr id="4" name="Picture 3" descr="A blue and black logo&#10;&#10;Description automatically generated with low confidence">
            <a:extLst>
              <a:ext uri="{FF2B5EF4-FFF2-40B4-BE49-F238E27FC236}">
                <a16:creationId xmlns:a16="http://schemas.microsoft.com/office/drawing/2014/main" id="{1B6AC98D-CFA8-6EEA-6B34-77A9CCED8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5298" y="2951733"/>
            <a:ext cx="4312844" cy="1940780"/>
          </a:xfrm>
          <a:prstGeom prst="rect">
            <a:avLst/>
          </a:prstGeom>
        </p:spPr>
      </p:pic>
      <p:pic>
        <p:nvPicPr>
          <p:cNvPr id="6" name="Picture 5" descr="A blue text on a black background&#10;&#10;Description automatically generated with low confidence">
            <a:extLst>
              <a:ext uri="{FF2B5EF4-FFF2-40B4-BE49-F238E27FC236}">
                <a16:creationId xmlns:a16="http://schemas.microsoft.com/office/drawing/2014/main" id="{83427F45-8319-A787-9207-82F5165515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6313" y="3874178"/>
            <a:ext cx="5190382" cy="2098455"/>
          </a:xfrm>
          <a:prstGeom prst="rect">
            <a:avLst/>
          </a:prstGeom>
        </p:spPr>
      </p:pic>
      <p:pic>
        <p:nvPicPr>
          <p:cNvPr id="8" name="Picture 7" descr="A picture containing font, symbol, logo, graphics&#10;&#10;Description automatically generated">
            <a:extLst>
              <a:ext uri="{FF2B5EF4-FFF2-40B4-BE49-F238E27FC236}">
                <a16:creationId xmlns:a16="http://schemas.microsoft.com/office/drawing/2014/main" id="{941FF818-04CF-774E-7BE2-55AE8D778E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6399" y="1656427"/>
            <a:ext cx="4312845" cy="2082506"/>
          </a:xfrm>
          <a:prstGeom prst="rect">
            <a:avLst/>
          </a:prstGeom>
        </p:spPr>
      </p:pic>
      <p:pic>
        <p:nvPicPr>
          <p:cNvPr id="10" name="Picture 9" descr="A close-up of a logo&#10;&#10;Description automatically generated with low confidence">
            <a:extLst>
              <a:ext uri="{FF2B5EF4-FFF2-40B4-BE49-F238E27FC236}">
                <a16:creationId xmlns:a16="http://schemas.microsoft.com/office/drawing/2014/main" id="{E697F0E7-F882-9BFD-C4AF-0A2130AD47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9329" y="4719660"/>
            <a:ext cx="6227805" cy="2075935"/>
          </a:xfrm>
          <a:prstGeom prst="rect">
            <a:avLst/>
          </a:prstGeom>
        </p:spPr>
      </p:pic>
      <p:pic>
        <p:nvPicPr>
          <p:cNvPr id="13" name="Picture 12" descr="A picture containing graphics, font, logo, screenshot&#10;&#10;Description automatically generated">
            <a:extLst>
              <a:ext uri="{FF2B5EF4-FFF2-40B4-BE49-F238E27FC236}">
                <a16:creationId xmlns:a16="http://schemas.microsoft.com/office/drawing/2014/main" id="{E9B8948B-1905-B926-3E8A-0835928CA7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49329" y="1494433"/>
            <a:ext cx="4941520" cy="1496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8628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B7D35991-D8F4-329C-A16C-BB8C9AB5C04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7607" r="7607"/>
          <a:stretch/>
        </p:blipFill>
        <p:spPr>
          <a:xfrm>
            <a:off x="10096108" y="144145"/>
            <a:ext cx="1887969" cy="2098455"/>
          </a:xfrm>
          <a:prstGeom prst="rect">
            <a:avLst/>
          </a:prstGeom>
        </p:spPr>
      </p:pic>
      <p:sp>
        <p:nvSpPr>
          <p:cNvPr id="26" name="Title 1">
            <a:extLst>
              <a:ext uri="{FF2B5EF4-FFF2-40B4-BE49-F238E27FC236}">
                <a16:creationId xmlns:a16="http://schemas.microsoft.com/office/drawing/2014/main" id="{9205852F-1FB3-D85C-872B-EDADC16ED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345" y="330864"/>
            <a:ext cx="10515600" cy="1325563"/>
          </a:xfrm>
        </p:spPr>
        <p:txBody>
          <a:bodyPr>
            <a:normAutofit/>
          </a:bodyPr>
          <a:lstStyle/>
          <a:p>
            <a:r>
              <a:rPr lang="en-US" sz="6600" dirty="0"/>
              <a:t>Using python as an R User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FFF5CE-41ED-8FB5-95C5-8738ED83D11A}"/>
              </a:ext>
            </a:extLst>
          </p:cNvPr>
          <p:cNvSpPr txBox="1"/>
          <p:nvPr/>
        </p:nvSpPr>
        <p:spPr>
          <a:xfrm>
            <a:off x="310344" y="1682434"/>
            <a:ext cx="9785764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202122"/>
                </a:solidFill>
              </a:rPr>
              <a:t>Python can be tricky to install: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4400" b="0" i="0" dirty="0">
                <a:solidFill>
                  <a:srgbClr val="202122"/>
                </a:solidFill>
                <a:effectLst/>
              </a:rPr>
              <a:t>Lots of versions, package installers IDEs etc.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4400" b="0" i="0" dirty="0">
              <a:solidFill>
                <a:srgbClr val="202122"/>
              </a:solidFill>
              <a:effectLst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4400" dirty="0">
              <a:solidFill>
                <a:srgbClr val="202122"/>
              </a:solidFill>
            </a:endParaRPr>
          </a:p>
          <a:p>
            <a:pPr lvl="1"/>
            <a:endParaRPr lang="en-US" sz="4400" b="0" i="0" dirty="0">
              <a:solidFill>
                <a:srgbClr val="202122"/>
              </a:solidFill>
              <a:effectLst/>
            </a:endParaRPr>
          </a:p>
          <a:p>
            <a:endParaRPr lang="en-US" sz="4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EF8D35-F824-D41C-013A-A9AABA7DC245}"/>
              </a:ext>
            </a:extLst>
          </p:cNvPr>
          <p:cNvSpPr txBox="1"/>
          <p:nvPr/>
        </p:nvSpPr>
        <p:spPr>
          <a:xfrm>
            <a:off x="310344" y="3688348"/>
            <a:ext cx="978576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4400" b="0" i="0" dirty="0">
                <a:solidFill>
                  <a:srgbClr val="202122"/>
                </a:solidFill>
                <a:effectLst/>
              </a:rPr>
              <a:t>As a scripting language, setting the interpreter and debugging is different than the way R functions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4400" dirty="0">
              <a:solidFill>
                <a:srgbClr val="202122"/>
              </a:solidFill>
            </a:endParaRPr>
          </a:p>
          <a:p>
            <a:pPr lvl="1"/>
            <a:endParaRPr lang="en-US" sz="4400" b="0" i="0" dirty="0">
              <a:solidFill>
                <a:srgbClr val="202122"/>
              </a:solidFill>
              <a:effectLst/>
            </a:endParaRPr>
          </a:p>
          <a:p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7904082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B7D35991-D8F4-329C-A16C-BB8C9AB5C04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7607" r="7607"/>
          <a:stretch/>
        </p:blipFill>
        <p:spPr>
          <a:xfrm>
            <a:off x="10096108" y="144145"/>
            <a:ext cx="1887969" cy="2098455"/>
          </a:xfrm>
          <a:prstGeom prst="rect">
            <a:avLst/>
          </a:prstGeom>
        </p:spPr>
      </p:pic>
      <p:sp>
        <p:nvSpPr>
          <p:cNvPr id="26" name="Title 1">
            <a:extLst>
              <a:ext uri="{FF2B5EF4-FFF2-40B4-BE49-F238E27FC236}">
                <a16:creationId xmlns:a16="http://schemas.microsoft.com/office/drawing/2014/main" id="{9205852F-1FB3-D85C-872B-EDADC16ED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345" y="330864"/>
            <a:ext cx="10515600" cy="1325563"/>
          </a:xfrm>
        </p:spPr>
        <p:txBody>
          <a:bodyPr>
            <a:normAutofit/>
          </a:bodyPr>
          <a:lstStyle/>
          <a:p>
            <a:r>
              <a:rPr lang="en-US" sz="6600" dirty="0"/>
              <a:t>R Users and Python…</a:t>
            </a:r>
          </a:p>
        </p:txBody>
      </p:sp>
      <p:pic>
        <p:nvPicPr>
          <p:cNvPr id="3" name="Picture 2" descr="A picture containing font, graphics, logo, symbol&#10;&#10;Description automatically generated">
            <a:extLst>
              <a:ext uri="{FF2B5EF4-FFF2-40B4-BE49-F238E27FC236}">
                <a16:creationId xmlns:a16="http://schemas.microsoft.com/office/drawing/2014/main" id="{01EE1092-5EB9-EE5E-48F4-B252AD03B2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4531" y="3143566"/>
            <a:ext cx="5791200" cy="2032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A6D5AAF-9281-63C9-9A2D-A521B755B7B6}"/>
              </a:ext>
            </a:extLst>
          </p:cNvPr>
          <p:cNvSpPr txBox="1"/>
          <p:nvPr/>
        </p:nvSpPr>
        <p:spPr>
          <a:xfrm>
            <a:off x="310344" y="1682434"/>
            <a:ext cx="5882533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4400" b="0" i="0" dirty="0" err="1">
                <a:solidFill>
                  <a:srgbClr val="202122"/>
                </a:solidFill>
                <a:effectLst/>
              </a:rPr>
              <a:t>Rstudio</a:t>
            </a:r>
            <a:r>
              <a:rPr lang="en-US" sz="4400" b="0" i="0" dirty="0">
                <a:solidFill>
                  <a:srgbClr val="202122"/>
                </a:solidFill>
                <a:effectLst/>
              </a:rPr>
              <a:t> as an IDE for R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202122"/>
                </a:solidFill>
              </a:rPr>
              <a:t>Supports Python through Reticulate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4400" b="0" i="0" dirty="0">
                <a:solidFill>
                  <a:srgbClr val="202122"/>
                </a:solidFill>
                <a:effectLst/>
              </a:rPr>
              <a:t>Can </a:t>
            </a:r>
            <a:r>
              <a:rPr lang="en-US" sz="4400" dirty="0">
                <a:solidFill>
                  <a:srgbClr val="202122"/>
                </a:solidFill>
              </a:rPr>
              <a:t>run code line by line as in R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4400" b="0" i="0" dirty="0">
                <a:solidFill>
                  <a:srgbClr val="202122"/>
                </a:solidFill>
                <a:effectLst/>
              </a:rPr>
              <a:t>Familiar to R user</a:t>
            </a:r>
            <a:r>
              <a:rPr lang="en-US" sz="4400" dirty="0">
                <a:solidFill>
                  <a:srgbClr val="202122"/>
                </a:solidFill>
              </a:rPr>
              <a:t>s and language switching</a:t>
            </a:r>
            <a:endParaRPr lang="en-US" sz="4400" b="0" i="0" dirty="0">
              <a:solidFill>
                <a:srgbClr val="202122"/>
              </a:solidFill>
              <a:effectLst/>
            </a:endParaRPr>
          </a:p>
          <a:p>
            <a:pPr algn="l"/>
            <a:endParaRPr lang="en-US" sz="4400" b="0" i="0" dirty="0">
              <a:solidFill>
                <a:srgbClr val="202122"/>
              </a:solidFill>
              <a:effectLst/>
            </a:endParaRPr>
          </a:p>
          <a:p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696007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497533-8CAE-A63F-2DFC-EFC72D5D5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889B5215-EE0C-A870-4D1E-D2BD0657714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7607" r="7607"/>
          <a:stretch/>
        </p:blipFill>
        <p:spPr>
          <a:xfrm>
            <a:off x="10096108" y="144145"/>
            <a:ext cx="1887969" cy="2098455"/>
          </a:xfrm>
          <a:prstGeom prst="rect">
            <a:avLst/>
          </a:prstGeom>
        </p:spPr>
      </p:pic>
      <p:sp>
        <p:nvSpPr>
          <p:cNvPr id="26" name="Title 1">
            <a:extLst>
              <a:ext uri="{FF2B5EF4-FFF2-40B4-BE49-F238E27FC236}">
                <a16:creationId xmlns:a16="http://schemas.microsoft.com/office/drawing/2014/main" id="{FFB1D341-E53B-0FB4-FE52-C1CCCA4D9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345" y="330864"/>
            <a:ext cx="10515600" cy="1325563"/>
          </a:xfrm>
        </p:spPr>
        <p:txBody>
          <a:bodyPr>
            <a:normAutofit/>
          </a:bodyPr>
          <a:lstStyle/>
          <a:p>
            <a:r>
              <a:rPr lang="en-US" sz="6600" dirty="0"/>
              <a:t>Python in Positron</a:t>
            </a:r>
          </a:p>
        </p:txBody>
      </p:sp>
      <p:pic>
        <p:nvPicPr>
          <p:cNvPr id="6" name="Picture 5" descr="A black text on a black background&#10;&#10;AI-generated content may be incorrect.">
            <a:extLst>
              <a:ext uri="{FF2B5EF4-FFF2-40B4-BE49-F238E27FC236}">
                <a16:creationId xmlns:a16="http://schemas.microsoft.com/office/drawing/2014/main" id="{327D8523-DA46-72A1-C964-7740857399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718" y="2967624"/>
            <a:ext cx="11856563" cy="2374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6505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B7D35991-D8F4-329C-A16C-BB8C9AB5C04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7607" r="7607"/>
          <a:stretch/>
        </p:blipFill>
        <p:spPr>
          <a:xfrm>
            <a:off x="8319547" y="408095"/>
            <a:ext cx="3636249" cy="404164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3F742C6-98D2-CBF9-93F8-606909FE3D12}"/>
              </a:ext>
            </a:extLst>
          </p:cNvPr>
          <p:cNvSpPr txBox="1"/>
          <p:nvPr/>
        </p:nvSpPr>
        <p:spPr>
          <a:xfrm>
            <a:off x="310345" y="3604035"/>
            <a:ext cx="78360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8F8F8"/>
                </a:solidFill>
                <a:latin typeface="Helvetica" pitchFamily="2" charset="0"/>
              </a:rPr>
              <a:t>object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CDA869"/>
                </a:solidFill>
                <a:latin typeface="Helvetica" pitchFamily="2" charset="0"/>
              </a:rPr>
              <a:t>=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F8F8F8"/>
                </a:solidFill>
                <a:latin typeface="Helvetica" pitchFamily="2" charset="0"/>
              </a:rPr>
              <a:t>function(</a:t>
            </a:r>
            <a:r>
              <a:rPr lang="en-US" sz="2400" dirty="0">
                <a:solidFill>
                  <a:srgbClr val="7587A6"/>
                </a:solidFill>
                <a:latin typeface="Helvetica" pitchFamily="2" charset="0"/>
              </a:rPr>
              <a:t>data </a:t>
            </a:r>
            <a:r>
              <a:rPr lang="en-US" sz="2400" dirty="0">
                <a:solidFill>
                  <a:srgbClr val="CDA869"/>
                </a:solidFill>
                <a:latin typeface="Helvetica" pitchFamily="2" charset="0"/>
              </a:rPr>
              <a:t>= </a:t>
            </a:r>
            <a:r>
              <a:rPr lang="en-US" sz="2400" dirty="0">
                <a:solidFill>
                  <a:srgbClr val="F8F8F8"/>
                </a:solidFill>
                <a:latin typeface="Helvetica" pitchFamily="2" charset="0"/>
              </a:rPr>
              <a:t>ds, </a:t>
            </a:r>
            <a:r>
              <a:rPr lang="en-US" sz="2400" dirty="0">
                <a:solidFill>
                  <a:srgbClr val="7587A6"/>
                </a:solidFill>
                <a:latin typeface="Helvetica" pitchFamily="2" charset="0"/>
              </a:rPr>
              <a:t>method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CDA869"/>
                </a:solidFill>
                <a:latin typeface="Helvetica" pitchFamily="2" charset="0"/>
              </a:rPr>
              <a:t>=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8F9D6A"/>
                </a:solidFill>
                <a:latin typeface="Helvetica" pitchFamily="2" charset="0"/>
              </a:rPr>
              <a:t>”mean"</a:t>
            </a:r>
            <a:r>
              <a:rPr lang="en-US" sz="2400" dirty="0">
                <a:solidFill>
                  <a:srgbClr val="F8F8F8"/>
                </a:solidFill>
                <a:latin typeface="Helvetica" pitchFamily="2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7587A6"/>
                </a:solidFill>
                <a:latin typeface="Helvetica" pitchFamily="2" charset="0"/>
              </a:rPr>
              <a:t>num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CDA869"/>
                </a:solidFill>
                <a:latin typeface="Helvetica" pitchFamily="2" charset="0"/>
              </a:rPr>
              <a:t>=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CF6A4C"/>
                </a:solidFill>
                <a:latin typeface="Helvetica" pitchFamily="2" charset="0"/>
              </a:rPr>
              <a:t>10</a:t>
            </a:r>
            <a:r>
              <a:rPr lang="en-US" sz="2400" dirty="0">
                <a:solidFill>
                  <a:srgbClr val="F8F8F8"/>
                </a:solidFill>
                <a:latin typeface="Helvetica" pitchFamily="2" charset="0"/>
              </a:rPr>
              <a:t>)</a:t>
            </a:r>
          </a:p>
        </p:txBody>
      </p:sp>
      <p:sp>
        <p:nvSpPr>
          <p:cNvPr id="17" name="Left Brace 16">
            <a:extLst>
              <a:ext uri="{FF2B5EF4-FFF2-40B4-BE49-F238E27FC236}">
                <a16:creationId xmlns:a16="http://schemas.microsoft.com/office/drawing/2014/main" id="{4E4BCA0C-4CD8-CC4B-CF9C-392836C89BF2}"/>
              </a:ext>
            </a:extLst>
          </p:cNvPr>
          <p:cNvSpPr/>
          <p:nvPr/>
        </p:nvSpPr>
        <p:spPr>
          <a:xfrm rot="16200000">
            <a:off x="1947658" y="3782768"/>
            <a:ext cx="318652" cy="1013822"/>
          </a:xfrm>
          <a:prstGeom prst="leftBrace">
            <a:avLst>
              <a:gd name="adj1" fmla="val 21795"/>
              <a:gd name="adj2" fmla="val 50000"/>
            </a:avLst>
          </a:prstGeom>
          <a:ln w="3492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Left Brace 18">
            <a:extLst>
              <a:ext uri="{FF2B5EF4-FFF2-40B4-BE49-F238E27FC236}">
                <a16:creationId xmlns:a16="http://schemas.microsoft.com/office/drawing/2014/main" id="{47042A6E-8748-FD6D-0FF6-BE4C6BA2AC8C}"/>
              </a:ext>
            </a:extLst>
          </p:cNvPr>
          <p:cNvSpPr/>
          <p:nvPr/>
        </p:nvSpPr>
        <p:spPr>
          <a:xfrm rot="16200000">
            <a:off x="636827" y="3903577"/>
            <a:ext cx="318652" cy="772204"/>
          </a:xfrm>
          <a:prstGeom prst="leftBrace">
            <a:avLst>
              <a:gd name="adj1" fmla="val 21795"/>
              <a:gd name="adj2" fmla="val 50000"/>
            </a:avLst>
          </a:prstGeom>
          <a:ln w="3492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Left Brace 19">
            <a:extLst>
              <a:ext uri="{FF2B5EF4-FFF2-40B4-BE49-F238E27FC236}">
                <a16:creationId xmlns:a16="http://schemas.microsoft.com/office/drawing/2014/main" id="{05BA6653-726B-09E3-B8CA-BEB3E57488AC}"/>
              </a:ext>
            </a:extLst>
          </p:cNvPr>
          <p:cNvSpPr/>
          <p:nvPr/>
        </p:nvSpPr>
        <p:spPr>
          <a:xfrm rot="16200000">
            <a:off x="5202383" y="1689643"/>
            <a:ext cx="318652" cy="5200072"/>
          </a:xfrm>
          <a:prstGeom prst="leftBrace">
            <a:avLst>
              <a:gd name="adj1" fmla="val 21795"/>
              <a:gd name="adj2" fmla="val 50000"/>
            </a:avLst>
          </a:prstGeom>
          <a:ln w="3492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C98CA7D-312F-D497-04F4-86E4E59D976A}"/>
              </a:ext>
            </a:extLst>
          </p:cNvPr>
          <p:cNvSpPr txBox="1"/>
          <p:nvPr/>
        </p:nvSpPr>
        <p:spPr>
          <a:xfrm>
            <a:off x="4595091" y="4414691"/>
            <a:ext cx="16394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Arguments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6076DF0-AD03-5CCC-A00D-64C08D054894}"/>
              </a:ext>
            </a:extLst>
          </p:cNvPr>
          <p:cNvSpPr txBox="1"/>
          <p:nvPr/>
        </p:nvSpPr>
        <p:spPr>
          <a:xfrm>
            <a:off x="1355437" y="4409574"/>
            <a:ext cx="15332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Function name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74A1916-FCFA-EB70-4220-6E0E34EE6485}"/>
              </a:ext>
            </a:extLst>
          </p:cNvPr>
          <p:cNvSpPr txBox="1"/>
          <p:nvPr/>
        </p:nvSpPr>
        <p:spPr>
          <a:xfrm>
            <a:off x="83235" y="4409573"/>
            <a:ext cx="15332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Object name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9205852F-1FB3-D85C-872B-EDADC16ED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345" y="330864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Python Syntax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911511-0CF5-29EB-0203-7D209FB216D8}"/>
              </a:ext>
            </a:extLst>
          </p:cNvPr>
          <p:cNvSpPr txBox="1"/>
          <p:nvPr/>
        </p:nvSpPr>
        <p:spPr>
          <a:xfrm>
            <a:off x="292282" y="2567707"/>
            <a:ext cx="757750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>
              <a:solidFill>
                <a:schemeClr val="bg1"/>
              </a:solidFill>
              <a:latin typeface="Helvetica" pitchFamily="2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Helvetica" pitchFamily="2" charset="0"/>
              </a:rPr>
              <a:t>Anatomy of a python function:</a:t>
            </a:r>
          </a:p>
        </p:txBody>
      </p:sp>
    </p:spTree>
    <p:extLst>
      <p:ext uri="{BB962C8B-B14F-4D97-AF65-F5344CB8AC3E}">
        <p14:creationId xmlns:p14="http://schemas.microsoft.com/office/powerpoint/2010/main" val="332935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 animBg="1"/>
      <p:bldP spid="19" grpId="0" animBg="1"/>
      <p:bldP spid="20" grpId="0" animBg="1"/>
      <p:bldP spid="21" grpId="0"/>
      <p:bldP spid="22" grpId="0"/>
      <p:bldP spid="2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43F742C6-98D2-CBF9-93F8-606909FE3D12}"/>
              </a:ext>
            </a:extLst>
          </p:cNvPr>
          <p:cNvSpPr txBox="1"/>
          <p:nvPr/>
        </p:nvSpPr>
        <p:spPr>
          <a:xfrm>
            <a:off x="310345" y="3604035"/>
            <a:ext cx="78360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8F8F8"/>
                </a:solidFill>
                <a:latin typeface="Helvetica" pitchFamily="2" charset="0"/>
              </a:rPr>
              <a:t>object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CDA869"/>
                </a:solidFill>
                <a:latin typeface="Helvetica" pitchFamily="2" charset="0"/>
              </a:rPr>
              <a:t>=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F8F8F8"/>
                </a:solidFill>
                <a:latin typeface="Helvetica" pitchFamily="2" charset="0"/>
              </a:rPr>
              <a:t>function(</a:t>
            </a:r>
            <a:r>
              <a:rPr lang="en-US" sz="2400" dirty="0">
                <a:solidFill>
                  <a:srgbClr val="7587A6"/>
                </a:solidFill>
                <a:latin typeface="Helvetica" pitchFamily="2" charset="0"/>
              </a:rPr>
              <a:t>data </a:t>
            </a:r>
            <a:r>
              <a:rPr lang="en-US" sz="2400" dirty="0">
                <a:solidFill>
                  <a:srgbClr val="CDA869"/>
                </a:solidFill>
                <a:latin typeface="Helvetica" pitchFamily="2" charset="0"/>
              </a:rPr>
              <a:t>= </a:t>
            </a:r>
            <a:r>
              <a:rPr lang="en-US" sz="2400" dirty="0">
                <a:solidFill>
                  <a:srgbClr val="F8F8F8"/>
                </a:solidFill>
                <a:latin typeface="Helvetica" pitchFamily="2" charset="0"/>
              </a:rPr>
              <a:t>ds, </a:t>
            </a:r>
            <a:r>
              <a:rPr lang="en-US" sz="2400" dirty="0">
                <a:solidFill>
                  <a:srgbClr val="7587A6"/>
                </a:solidFill>
                <a:latin typeface="Helvetica" pitchFamily="2" charset="0"/>
              </a:rPr>
              <a:t>method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CDA869"/>
                </a:solidFill>
                <a:latin typeface="Helvetica" pitchFamily="2" charset="0"/>
              </a:rPr>
              <a:t>=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8F9D6A"/>
                </a:solidFill>
                <a:latin typeface="Helvetica" pitchFamily="2" charset="0"/>
              </a:rPr>
              <a:t>”mean"</a:t>
            </a:r>
            <a:r>
              <a:rPr lang="en-US" sz="2400" dirty="0">
                <a:solidFill>
                  <a:srgbClr val="F8F8F8"/>
                </a:solidFill>
                <a:latin typeface="Helvetica" pitchFamily="2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7587A6"/>
                </a:solidFill>
                <a:latin typeface="Helvetica" pitchFamily="2" charset="0"/>
              </a:rPr>
              <a:t>num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CDA869"/>
                </a:solidFill>
                <a:latin typeface="Helvetica" pitchFamily="2" charset="0"/>
              </a:rPr>
              <a:t>=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CF6A4C"/>
                </a:solidFill>
                <a:latin typeface="Helvetica" pitchFamily="2" charset="0"/>
              </a:rPr>
              <a:t>10</a:t>
            </a:r>
            <a:r>
              <a:rPr lang="en-US" sz="2400" dirty="0">
                <a:solidFill>
                  <a:srgbClr val="F8F8F8"/>
                </a:solidFill>
                <a:latin typeface="Helvetica" pitchFamily="2" charset="0"/>
              </a:rPr>
              <a:t>)</a:t>
            </a:r>
          </a:p>
        </p:txBody>
      </p:sp>
      <p:sp>
        <p:nvSpPr>
          <p:cNvPr id="20" name="Left Brace 19">
            <a:extLst>
              <a:ext uri="{FF2B5EF4-FFF2-40B4-BE49-F238E27FC236}">
                <a16:creationId xmlns:a16="http://schemas.microsoft.com/office/drawing/2014/main" id="{05BA6653-726B-09E3-B8CA-BEB3E57488AC}"/>
              </a:ext>
            </a:extLst>
          </p:cNvPr>
          <p:cNvSpPr/>
          <p:nvPr/>
        </p:nvSpPr>
        <p:spPr>
          <a:xfrm rot="16200000">
            <a:off x="3207329" y="3684697"/>
            <a:ext cx="318652" cy="1209963"/>
          </a:xfrm>
          <a:prstGeom prst="leftBrace">
            <a:avLst>
              <a:gd name="adj1" fmla="val 21795"/>
              <a:gd name="adj2" fmla="val 50000"/>
            </a:avLst>
          </a:prstGeom>
          <a:ln w="34925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C98CA7D-312F-D497-04F4-86E4E59D976A}"/>
              </a:ext>
            </a:extLst>
          </p:cNvPr>
          <p:cNvSpPr txBox="1"/>
          <p:nvPr/>
        </p:nvSpPr>
        <p:spPr>
          <a:xfrm>
            <a:off x="2556164" y="4424849"/>
            <a:ext cx="16394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Pass a dataset</a:t>
            </a:r>
          </a:p>
        </p:txBody>
      </p:sp>
      <p:sp>
        <p:nvSpPr>
          <p:cNvPr id="2" name="Left Brace 1">
            <a:extLst>
              <a:ext uri="{FF2B5EF4-FFF2-40B4-BE49-F238E27FC236}">
                <a16:creationId xmlns:a16="http://schemas.microsoft.com/office/drawing/2014/main" id="{BBD59C56-5908-BA09-7AB8-036A11188FFE}"/>
              </a:ext>
            </a:extLst>
          </p:cNvPr>
          <p:cNvSpPr/>
          <p:nvPr/>
        </p:nvSpPr>
        <p:spPr>
          <a:xfrm rot="16200000">
            <a:off x="5165439" y="3176696"/>
            <a:ext cx="318652" cy="2225966"/>
          </a:xfrm>
          <a:prstGeom prst="leftBrace">
            <a:avLst>
              <a:gd name="adj1" fmla="val 21795"/>
              <a:gd name="adj2" fmla="val 50000"/>
            </a:avLst>
          </a:prstGeom>
          <a:ln w="34925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F7171452-7A9F-E435-AB60-0176458E271B}"/>
              </a:ext>
            </a:extLst>
          </p:cNvPr>
          <p:cNvSpPr/>
          <p:nvPr/>
        </p:nvSpPr>
        <p:spPr>
          <a:xfrm rot="16200000">
            <a:off x="7112002" y="3599261"/>
            <a:ext cx="318652" cy="1380834"/>
          </a:xfrm>
          <a:prstGeom prst="leftBrace">
            <a:avLst>
              <a:gd name="adj1" fmla="val 21795"/>
              <a:gd name="adj2" fmla="val 50000"/>
            </a:avLst>
          </a:prstGeom>
          <a:ln w="34925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33684D-AB5C-F899-2B99-5141C1BA6140}"/>
              </a:ext>
            </a:extLst>
          </p:cNvPr>
          <p:cNvSpPr txBox="1"/>
          <p:nvPr/>
        </p:nvSpPr>
        <p:spPr>
          <a:xfrm>
            <a:off x="4174729" y="4424849"/>
            <a:ext cx="23229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Pass a setting to the function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DC1705-91C8-A370-89EB-61559E709475}"/>
              </a:ext>
            </a:extLst>
          </p:cNvPr>
          <p:cNvSpPr txBox="1"/>
          <p:nvPr/>
        </p:nvSpPr>
        <p:spPr>
          <a:xfrm>
            <a:off x="6412238" y="4424848"/>
            <a:ext cx="18635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Or a numeric value</a:t>
            </a:r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1712DD0A-6332-12B1-4C03-89F52EA3C60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7607" r="7607"/>
          <a:stretch/>
        </p:blipFill>
        <p:spPr>
          <a:xfrm>
            <a:off x="8319547" y="408096"/>
            <a:ext cx="3635584" cy="4040909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4FA83EAA-688D-DFB8-209D-67E662D2D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345" y="330864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Python Syntax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241B86-1947-48DC-4CEA-E964C7DDF8D1}"/>
              </a:ext>
            </a:extLst>
          </p:cNvPr>
          <p:cNvSpPr txBox="1"/>
          <p:nvPr/>
        </p:nvSpPr>
        <p:spPr>
          <a:xfrm>
            <a:off x="292282" y="2567707"/>
            <a:ext cx="757750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>
              <a:solidFill>
                <a:schemeClr val="bg1"/>
              </a:solidFill>
              <a:latin typeface="Helvetica" pitchFamily="2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Helvetica" pitchFamily="2" charset="0"/>
              </a:rPr>
              <a:t>Anatomy of a python function:</a:t>
            </a:r>
          </a:p>
        </p:txBody>
      </p:sp>
    </p:spTree>
    <p:extLst>
      <p:ext uri="{BB962C8B-B14F-4D97-AF65-F5344CB8AC3E}">
        <p14:creationId xmlns:p14="http://schemas.microsoft.com/office/powerpoint/2010/main" val="1949987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/>
      <p:bldP spid="2" grpId="0" animBg="1"/>
      <p:bldP spid="5" grpId="0" animBg="1"/>
      <p:bldP spid="6" grpId="0"/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43F742C6-98D2-CBF9-93F8-606909FE3D12}"/>
              </a:ext>
            </a:extLst>
          </p:cNvPr>
          <p:cNvSpPr txBox="1"/>
          <p:nvPr/>
        </p:nvSpPr>
        <p:spPr>
          <a:xfrm>
            <a:off x="310345" y="3604035"/>
            <a:ext cx="78360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8F8F8"/>
                </a:solidFill>
                <a:latin typeface="Helvetica" pitchFamily="2" charset="0"/>
              </a:rPr>
              <a:t>object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CDA869"/>
                </a:solidFill>
                <a:latin typeface="Helvetica" pitchFamily="2" charset="0"/>
              </a:rPr>
              <a:t>=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F8F8F8"/>
                </a:solidFill>
                <a:latin typeface="Helvetica" pitchFamily="2" charset="0"/>
              </a:rPr>
              <a:t>function(</a:t>
            </a:r>
            <a:r>
              <a:rPr lang="en-US" sz="2400" dirty="0">
                <a:solidFill>
                  <a:srgbClr val="7587A6"/>
                </a:solidFill>
                <a:latin typeface="Helvetica" pitchFamily="2" charset="0"/>
              </a:rPr>
              <a:t>data </a:t>
            </a:r>
            <a:r>
              <a:rPr lang="en-US" sz="2400" dirty="0">
                <a:solidFill>
                  <a:srgbClr val="CDA869"/>
                </a:solidFill>
                <a:latin typeface="Helvetica" pitchFamily="2" charset="0"/>
              </a:rPr>
              <a:t>= </a:t>
            </a:r>
            <a:r>
              <a:rPr lang="en-US" sz="2400" dirty="0">
                <a:solidFill>
                  <a:srgbClr val="F8F8F8"/>
                </a:solidFill>
                <a:latin typeface="Helvetica" pitchFamily="2" charset="0"/>
              </a:rPr>
              <a:t>ds, </a:t>
            </a:r>
            <a:r>
              <a:rPr lang="en-US" sz="2400" dirty="0">
                <a:solidFill>
                  <a:srgbClr val="7587A6"/>
                </a:solidFill>
                <a:latin typeface="Helvetica" pitchFamily="2" charset="0"/>
              </a:rPr>
              <a:t>method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CDA869"/>
                </a:solidFill>
                <a:latin typeface="Helvetica" pitchFamily="2" charset="0"/>
              </a:rPr>
              <a:t>=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8F9D6A"/>
                </a:solidFill>
                <a:latin typeface="Helvetica" pitchFamily="2" charset="0"/>
              </a:rPr>
              <a:t>”mean"</a:t>
            </a:r>
            <a:r>
              <a:rPr lang="en-US" sz="2400" dirty="0">
                <a:solidFill>
                  <a:srgbClr val="F8F8F8"/>
                </a:solidFill>
                <a:latin typeface="Helvetica" pitchFamily="2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7587A6"/>
                </a:solidFill>
                <a:latin typeface="Helvetica" pitchFamily="2" charset="0"/>
              </a:rPr>
              <a:t>num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CDA869"/>
                </a:solidFill>
                <a:latin typeface="Helvetica" pitchFamily="2" charset="0"/>
              </a:rPr>
              <a:t>=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CF6A4C"/>
                </a:solidFill>
                <a:latin typeface="Helvetica" pitchFamily="2" charset="0"/>
              </a:rPr>
              <a:t>10</a:t>
            </a:r>
            <a:r>
              <a:rPr lang="en-US" sz="2400" dirty="0">
                <a:solidFill>
                  <a:srgbClr val="F8F8F8"/>
                </a:solidFill>
                <a:latin typeface="Helvetica" pitchFamily="2" charset="0"/>
              </a:rPr>
              <a:t>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AF019C-2FA7-11D2-9575-EFAF14171A46}"/>
              </a:ext>
            </a:extLst>
          </p:cNvPr>
          <p:cNvSpPr txBox="1"/>
          <p:nvPr/>
        </p:nvSpPr>
        <p:spPr>
          <a:xfrm>
            <a:off x="292282" y="2567707"/>
            <a:ext cx="757750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>
              <a:solidFill>
                <a:schemeClr val="bg1"/>
              </a:solidFill>
              <a:latin typeface="Helvetica" pitchFamily="2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Helvetica" pitchFamily="2" charset="0"/>
              </a:rPr>
              <a:t>Anatomy of a python function: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DFC2FB-2F1E-263E-F8AB-9D2431938456}"/>
              </a:ext>
            </a:extLst>
          </p:cNvPr>
          <p:cNvSpPr txBox="1"/>
          <p:nvPr/>
        </p:nvSpPr>
        <p:spPr>
          <a:xfrm>
            <a:off x="292281" y="3714870"/>
            <a:ext cx="757750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>
              <a:solidFill>
                <a:schemeClr val="bg1"/>
              </a:solidFill>
              <a:latin typeface="Helvetica" pitchFamily="2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Helvetica" pitchFamily="2" charset="0"/>
              </a:rPr>
              <a:t>Python objects have methods: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983084-CB67-6DE1-8788-ED4631586302}"/>
              </a:ext>
            </a:extLst>
          </p:cNvPr>
          <p:cNvSpPr txBox="1"/>
          <p:nvPr/>
        </p:nvSpPr>
        <p:spPr>
          <a:xfrm>
            <a:off x="-400858" y="4731339"/>
            <a:ext cx="80208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DAD085">
                    <a:alpha val="0"/>
                  </a:srgbClr>
                </a:solidFill>
                <a:effectLst>
                  <a:outerShdw sx="1000" sy="1000" algn="ctr" rotWithShape="0">
                    <a:srgbClr val="000000"/>
                  </a:outerShdw>
                </a:effectLst>
                <a:latin typeface="Helvetica" pitchFamily="2" charset="0"/>
              </a:rPr>
              <a:t>print</a:t>
            </a:r>
            <a:r>
              <a:rPr lang="en-US" sz="2400" dirty="0">
                <a:solidFill>
                  <a:srgbClr val="F8F8F8">
                    <a:alpha val="0"/>
                  </a:srgbClr>
                </a:solidFill>
                <a:effectLst>
                  <a:outerShdw sx="1000" sy="1000" algn="ctr" rotWithShape="0">
                    <a:srgbClr val="000000"/>
                  </a:outerShdw>
                </a:effectLst>
                <a:latin typeface="Helvetica" pitchFamily="2" charset="0"/>
              </a:rPr>
              <a:t>(</a:t>
            </a:r>
            <a:r>
              <a:rPr lang="en-US" sz="2400" dirty="0" err="1">
                <a:solidFill>
                  <a:srgbClr val="F8F8F8"/>
                </a:solidFill>
                <a:latin typeface="Helvetica" pitchFamily="2" charset="0"/>
              </a:rPr>
              <a:t>object.python_method</a:t>
            </a:r>
            <a:r>
              <a:rPr lang="en-US" sz="2400" dirty="0">
                <a:solidFill>
                  <a:srgbClr val="F8F8F8"/>
                </a:solidFill>
                <a:latin typeface="Helvetica" pitchFamily="2" charset="0"/>
              </a:rPr>
              <a:t>(</a:t>
            </a:r>
            <a:r>
              <a:rPr lang="en-US" sz="2400" dirty="0">
                <a:solidFill>
                  <a:srgbClr val="7587A6"/>
                </a:solidFill>
                <a:latin typeface="Helvetica" pitchFamily="2" charset="0"/>
              </a:rPr>
              <a:t>method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CDA869"/>
                </a:solidFill>
                <a:latin typeface="Helvetica" pitchFamily="2" charset="0"/>
              </a:rPr>
              <a:t>=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8F9D6A"/>
                </a:solidFill>
                <a:latin typeface="Helvetica" pitchFamily="2" charset="0"/>
              </a:rPr>
              <a:t>”mean"</a:t>
            </a:r>
            <a:r>
              <a:rPr lang="en-US" sz="2400" dirty="0">
                <a:solidFill>
                  <a:srgbClr val="F8F8F8"/>
                </a:solidFill>
                <a:latin typeface="Helvetica" pitchFamily="2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7587A6"/>
                </a:solidFill>
                <a:latin typeface="Helvetica" pitchFamily="2" charset="0"/>
              </a:rPr>
              <a:t>num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CDA869"/>
                </a:solidFill>
                <a:latin typeface="Helvetica" pitchFamily="2" charset="0"/>
              </a:rPr>
              <a:t>=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CF6A4C"/>
                </a:solidFill>
                <a:latin typeface="Helvetica" pitchFamily="2" charset="0"/>
              </a:rPr>
              <a:t>10</a:t>
            </a:r>
            <a:r>
              <a:rPr lang="en-US" sz="2400" dirty="0">
                <a:solidFill>
                  <a:srgbClr val="F8F8F8"/>
                </a:solidFill>
                <a:latin typeface="Helvetica" pitchFamily="2" charset="0"/>
              </a:rPr>
              <a:t>)</a:t>
            </a:r>
          </a:p>
        </p:txBody>
      </p:sp>
      <p:sp>
        <p:nvSpPr>
          <p:cNvPr id="2" name="Left Brace 1">
            <a:extLst>
              <a:ext uri="{FF2B5EF4-FFF2-40B4-BE49-F238E27FC236}">
                <a16:creationId xmlns:a16="http://schemas.microsoft.com/office/drawing/2014/main" id="{A14C8CB5-97AA-8351-1DA6-89CCC304BA06}"/>
              </a:ext>
            </a:extLst>
          </p:cNvPr>
          <p:cNvSpPr/>
          <p:nvPr/>
        </p:nvSpPr>
        <p:spPr>
          <a:xfrm rot="16200000">
            <a:off x="649124" y="4987225"/>
            <a:ext cx="318652" cy="785626"/>
          </a:xfrm>
          <a:prstGeom prst="leftBrace">
            <a:avLst>
              <a:gd name="adj1" fmla="val 21795"/>
              <a:gd name="adj2" fmla="val 50000"/>
            </a:avLst>
          </a:prstGeom>
          <a:ln w="3492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C2338D-0227-349F-5642-5820059AFD7A}"/>
              </a:ext>
            </a:extLst>
          </p:cNvPr>
          <p:cNvSpPr txBox="1"/>
          <p:nvPr/>
        </p:nvSpPr>
        <p:spPr>
          <a:xfrm>
            <a:off x="276204" y="5518736"/>
            <a:ext cx="10644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Object name</a:t>
            </a:r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157026FB-A834-97F5-C346-50933011B4D6}"/>
              </a:ext>
            </a:extLst>
          </p:cNvPr>
          <p:cNvSpPr/>
          <p:nvPr/>
        </p:nvSpPr>
        <p:spPr>
          <a:xfrm rot="16200000">
            <a:off x="2205132" y="4340768"/>
            <a:ext cx="318652" cy="2069044"/>
          </a:xfrm>
          <a:prstGeom prst="leftBrace">
            <a:avLst>
              <a:gd name="adj1" fmla="val 21795"/>
              <a:gd name="adj2" fmla="val 50000"/>
            </a:avLst>
          </a:prstGeom>
          <a:ln w="3492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00890C-64CF-DEDE-0A84-F8626FB65E5B}"/>
              </a:ext>
            </a:extLst>
          </p:cNvPr>
          <p:cNvSpPr txBox="1"/>
          <p:nvPr/>
        </p:nvSpPr>
        <p:spPr>
          <a:xfrm>
            <a:off x="1329936" y="5513988"/>
            <a:ext cx="20690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Method name</a:t>
            </a:r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69BD0B54-9A39-25C2-220F-B63CA7A65BD2}"/>
              </a:ext>
            </a:extLst>
          </p:cNvPr>
          <p:cNvSpPr/>
          <p:nvPr/>
        </p:nvSpPr>
        <p:spPr>
          <a:xfrm rot="16200000">
            <a:off x="5248245" y="3500120"/>
            <a:ext cx="318652" cy="3759836"/>
          </a:xfrm>
          <a:prstGeom prst="leftBrace">
            <a:avLst>
              <a:gd name="adj1" fmla="val 21795"/>
              <a:gd name="adj2" fmla="val 50000"/>
            </a:avLst>
          </a:prstGeom>
          <a:ln w="3492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B09FCE-DC80-2D48-B015-E79B8BAB1D99}"/>
              </a:ext>
            </a:extLst>
          </p:cNvPr>
          <p:cNvSpPr txBox="1"/>
          <p:nvPr/>
        </p:nvSpPr>
        <p:spPr>
          <a:xfrm>
            <a:off x="4248726" y="5513988"/>
            <a:ext cx="23922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Methods can take arguments</a:t>
            </a:r>
          </a:p>
        </p:txBody>
      </p:sp>
      <p:pic>
        <p:nvPicPr>
          <p:cNvPr id="15" name="Picture 14" descr="Logo&#10;&#10;Description automatically generated">
            <a:extLst>
              <a:ext uri="{FF2B5EF4-FFF2-40B4-BE49-F238E27FC236}">
                <a16:creationId xmlns:a16="http://schemas.microsoft.com/office/drawing/2014/main" id="{6C344948-A922-EFD3-5FE4-E5D3BF70874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7607" r="7607"/>
          <a:stretch/>
        </p:blipFill>
        <p:spPr>
          <a:xfrm>
            <a:off x="8319547" y="408096"/>
            <a:ext cx="3635584" cy="4040909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6A1A5FF6-DF13-2E17-C208-79AF0FC11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345" y="330864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Python Syntax</a:t>
            </a:r>
          </a:p>
        </p:txBody>
      </p:sp>
    </p:spTree>
    <p:extLst>
      <p:ext uri="{BB962C8B-B14F-4D97-AF65-F5344CB8AC3E}">
        <p14:creationId xmlns:p14="http://schemas.microsoft.com/office/powerpoint/2010/main" val="3162969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" grpId="0"/>
      <p:bldP spid="2" grpId="0" animBg="1"/>
      <p:bldP spid="5" grpId="0"/>
      <p:bldP spid="6" grpId="0" animBg="1"/>
      <p:bldP spid="9" grpId="0"/>
      <p:bldP spid="11" grpId="0" animBg="1"/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43F742C6-98D2-CBF9-93F8-606909FE3D12}"/>
              </a:ext>
            </a:extLst>
          </p:cNvPr>
          <p:cNvSpPr txBox="1"/>
          <p:nvPr/>
        </p:nvSpPr>
        <p:spPr>
          <a:xfrm>
            <a:off x="310345" y="3604035"/>
            <a:ext cx="78360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8F8F8"/>
                </a:solidFill>
                <a:latin typeface="Helvetica" pitchFamily="2" charset="0"/>
              </a:rPr>
              <a:t>object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CDA869"/>
                </a:solidFill>
                <a:latin typeface="Helvetica" pitchFamily="2" charset="0"/>
              </a:rPr>
              <a:t>=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F8F8F8"/>
                </a:solidFill>
                <a:latin typeface="Helvetica" pitchFamily="2" charset="0"/>
              </a:rPr>
              <a:t>function(</a:t>
            </a:r>
            <a:r>
              <a:rPr lang="en-US" sz="2400" dirty="0">
                <a:solidFill>
                  <a:srgbClr val="7587A6"/>
                </a:solidFill>
                <a:latin typeface="Helvetica" pitchFamily="2" charset="0"/>
              </a:rPr>
              <a:t>data </a:t>
            </a:r>
            <a:r>
              <a:rPr lang="en-US" sz="2400" dirty="0">
                <a:solidFill>
                  <a:srgbClr val="CDA869"/>
                </a:solidFill>
                <a:latin typeface="Helvetica" pitchFamily="2" charset="0"/>
              </a:rPr>
              <a:t>= </a:t>
            </a:r>
            <a:r>
              <a:rPr lang="en-US" sz="2400" dirty="0">
                <a:solidFill>
                  <a:srgbClr val="F8F8F8"/>
                </a:solidFill>
                <a:latin typeface="Helvetica" pitchFamily="2" charset="0"/>
              </a:rPr>
              <a:t>ds, </a:t>
            </a:r>
            <a:r>
              <a:rPr lang="en-US" sz="2400" dirty="0">
                <a:solidFill>
                  <a:srgbClr val="7587A6"/>
                </a:solidFill>
                <a:latin typeface="Helvetica" pitchFamily="2" charset="0"/>
              </a:rPr>
              <a:t>method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CDA869"/>
                </a:solidFill>
                <a:latin typeface="Helvetica" pitchFamily="2" charset="0"/>
              </a:rPr>
              <a:t>=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8F9D6A"/>
                </a:solidFill>
                <a:latin typeface="Helvetica" pitchFamily="2" charset="0"/>
              </a:rPr>
              <a:t>”mean"</a:t>
            </a:r>
            <a:r>
              <a:rPr lang="en-US" sz="2400" dirty="0">
                <a:solidFill>
                  <a:srgbClr val="F8F8F8"/>
                </a:solidFill>
                <a:latin typeface="Helvetica" pitchFamily="2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7587A6"/>
                </a:solidFill>
                <a:latin typeface="Helvetica" pitchFamily="2" charset="0"/>
              </a:rPr>
              <a:t>num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CDA869"/>
                </a:solidFill>
                <a:latin typeface="Helvetica" pitchFamily="2" charset="0"/>
              </a:rPr>
              <a:t>=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CF6A4C"/>
                </a:solidFill>
                <a:latin typeface="Helvetica" pitchFamily="2" charset="0"/>
              </a:rPr>
              <a:t>10</a:t>
            </a:r>
            <a:r>
              <a:rPr lang="en-US" sz="2400" dirty="0">
                <a:solidFill>
                  <a:srgbClr val="F8F8F8"/>
                </a:solidFill>
                <a:latin typeface="Helvetica" pitchFamily="2" charset="0"/>
              </a:rPr>
              <a:t>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AF019C-2FA7-11D2-9575-EFAF14171A46}"/>
              </a:ext>
            </a:extLst>
          </p:cNvPr>
          <p:cNvSpPr txBox="1"/>
          <p:nvPr/>
        </p:nvSpPr>
        <p:spPr>
          <a:xfrm>
            <a:off x="292282" y="2567707"/>
            <a:ext cx="757750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>
              <a:solidFill>
                <a:schemeClr val="bg1"/>
              </a:solidFill>
              <a:latin typeface="Helvetica" pitchFamily="2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Helvetica" pitchFamily="2" charset="0"/>
              </a:rPr>
              <a:t>Anatomy of a python function: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DFC2FB-2F1E-263E-F8AB-9D2431938456}"/>
              </a:ext>
            </a:extLst>
          </p:cNvPr>
          <p:cNvSpPr txBox="1"/>
          <p:nvPr/>
        </p:nvSpPr>
        <p:spPr>
          <a:xfrm>
            <a:off x="292281" y="3714870"/>
            <a:ext cx="757750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>
              <a:solidFill>
                <a:schemeClr val="bg1"/>
              </a:solidFill>
              <a:latin typeface="Helvetica" pitchFamily="2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Helvetica" pitchFamily="2" charset="0"/>
              </a:rPr>
              <a:t>Python objects have methods: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983084-CB67-6DE1-8788-ED4631586302}"/>
              </a:ext>
            </a:extLst>
          </p:cNvPr>
          <p:cNvSpPr txBox="1"/>
          <p:nvPr/>
        </p:nvSpPr>
        <p:spPr>
          <a:xfrm>
            <a:off x="-400858" y="4731339"/>
            <a:ext cx="80208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DAD085">
                    <a:alpha val="0"/>
                  </a:srgbClr>
                </a:solidFill>
                <a:effectLst>
                  <a:outerShdw sx="1000" sy="1000" algn="ctr" rotWithShape="0">
                    <a:srgbClr val="000000"/>
                  </a:outerShdw>
                </a:effectLst>
                <a:latin typeface="Helvetica" pitchFamily="2" charset="0"/>
              </a:rPr>
              <a:t>print</a:t>
            </a:r>
            <a:r>
              <a:rPr lang="en-US" sz="2400" dirty="0">
                <a:solidFill>
                  <a:srgbClr val="F8F8F8">
                    <a:alpha val="0"/>
                  </a:srgbClr>
                </a:solidFill>
                <a:effectLst>
                  <a:outerShdw sx="1000" sy="1000" algn="ctr" rotWithShape="0">
                    <a:srgbClr val="000000"/>
                  </a:outerShdw>
                </a:effectLst>
                <a:latin typeface="Helvetica" pitchFamily="2" charset="0"/>
              </a:rPr>
              <a:t>(</a:t>
            </a:r>
            <a:r>
              <a:rPr lang="en-US" sz="2400" dirty="0" err="1">
                <a:solidFill>
                  <a:srgbClr val="F8F8F8"/>
                </a:solidFill>
                <a:latin typeface="Helvetica" pitchFamily="2" charset="0"/>
              </a:rPr>
              <a:t>object.python_method</a:t>
            </a:r>
            <a:r>
              <a:rPr lang="en-US" sz="2400" dirty="0">
                <a:solidFill>
                  <a:srgbClr val="F8F8F8"/>
                </a:solidFill>
                <a:latin typeface="Helvetica" pitchFamily="2" charset="0"/>
              </a:rPr>
              <a:t>(</a:t>
            </a:r>
            <a:r>
              <a:rPr lang="en-US" sz="2400" dirty="0">
                <a:solidFill>
                  <a:srgbClr val="7587A6"/>
                </a:solidFill>
                <a:latin typeface="Helvetica" pitchFamily="2" charset="0"/>
              </a:rPr>
              <a:t>method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CDA869"/>
                </a:solidFill>
                <a:latin typeface="Helvetica" pitchFamily="2" charset="0"/>
              </a:rPr>
              <a:t>=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8F9D6A"/>
                </a:solidFill>
                <a:latin typeface="Helvetica" pitchFamily="2" charset="0"/>
              </a:rPr>
              <a:t>”mean"</a:t>
            </a:r>
            <a:r>
              <a:rPr lang="en-US" sz="2400" dirty="0">
                <a:solidFill>
                  <a:srgbClr val="F8F8F8"/>
                </a:solidFill>
                <a:latin typeface="Helvetica" pitchFamily="2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7587A6"/>
                </a:solidFill>
                <a:latin typeface="Helvetica" pitchFamily="2" charset="0"/>
              </a:rPr>
              <a:t>num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CDA869"/>
                </a:solidFill>
                <a:latin typeface="Helvetica" pitchFamily="2" charset="0"/>
              </a:rPr>
              <a:t>=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CF6A4C"/>
                </a:solidFill>
                <a:latin typeface="Helvetica" pitchFamily="2" charset="0"/>
              </a:rPr>
              <a:t>10</a:t>
            </a:r>
            <a:r>
              <a:rPr lang="en-US" sz="2400" dirty="0">
                <a:solidFill>
                  <a:srgbClr val="F8F8F8"/>
                </a:solidFill>
                <a:latin typeface="Helvetica" pitchFamily="2" charset="0"/>
              </a:rPr>
              <a:t>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E57238-28F3-BA3E-6A58-FF5475304538}"/>
              </a:ext>
            </a:extLst>
          </p:cNvPr>
          <p:cNvSpPr txBox="1"/>
          <p:nvPr/>
        </p:nvSpPr>
        <p:spPr>
          <a:xfrm>
            <a:off x="292280" y="4862033"/>
            <a:ext cx="757750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>
              <a:solidFill>
                <a:schemeClr val="bg1"/>
              </a:solidFill>
              <a:latin typeface="Helvetica" pitchFamily="2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Helvetica" pitchFamily="2" charset="0"/>
              </a:rPr>
              <a:t>This result could be stored as a new object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4EDF57-DFC1-F446-B55C-4AE994A3F4E9}"/>
              </a:ext>
            </a:extLst>
          </p:cNvPr>
          <p:cNvSpPr txBox="1"/>
          <p:nvPr/>
        </p:nvSpPr>
        <p:spPr>
          <a:xfrm>
            <a:off x="-400859" y="5870995"/>
            <a:ext cx="80208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rgbClr val="DAD085">
                    <a:alpha val="0"/>
                  </a:srgbClr>
                </a:solidFill>
                <a:effectLst>
                  <a:outerShdw sx="1000" sy="1000" algn="ctr" rotWithShape="0">
                    <a:srgbClr val="000000"/>
                  </a:outerShdw>
                </a:effectLst>
                <a:latin typeface="Helvetica" pitchFamily="2" charset="0"/>
              </a:rPr>
              <a:t>Pri</a:t>
            </a:r>
            <a:r>
              <a:rPr lang="en-US" sz="2400" dirty="0">
                <a:solidFill>
                  <a:srgbClr val="DAD085">
                    <a:alpha val="0"/>
                  </a:srgbClr>
                </a:solidFill>
                <a:effectLst>
                  <a:outerShdw sx="1000" sy="1000" algn="ctr" rotWithShape="0">
                    <a:srgbClr val="000000"/>
                  </a:outerShdw>
                </a:effectLst>
                <a:latin typeface="Helvetica" pitchFamily="2" charset="0"/>
              </a:rPr>
              <a:t>.  </a:t>
            </a:r>
            <a:r>
              <a:rPr lang="en-US" sz="2400" dirty="0">
                <a:solidFill>
                  <a:srgbClr val="F8F8F8"/>
                </a:solidFill>
                <a:latin typeface="Helvetica" pitchFamily="2" charset="0"/>
              </a:rPr>
              <a:t> </a:t>
            </a:r>
            <a:r>
              <a:rPr lang="en-US" sz="2400" dirty="0" err="1">
                <a:solidFill>
                  <a:srgbClr val="F8F8F8"/>
                </a:solidFill>
                <a:latin typeface="Helvetica" pitchFamily="2" charset="0"/>
              </a:rPr>
              <a:t>newObj</a:t>
            </a:r>
            <a:r>
              <a:rPr lang="en-US" sz="2400" dirty="0">
                <a:solidFill>
                  <a:srgbClr val="F8F8F8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CDA869"/>
                </a:solidFill>
                <a:latin typeface="Helvetica" pitchFamily="2" charset="0"/>
              </a:rPr>
              <a:t>= </a:t>
            </a:r>
            <a:r>
              <a:rPr lang="en-US" sz="2400" dirty="0" err="1">
                <a:solidFill>
                  <a:srgbClr val="F8F8F8"/>
                </a:solidFill>
                <a:latin typeface="Helvetica" pitchFamily="2" charset="0"/>
              </a:rPr>
              <a:t>object.python_method</a:t>
            </a:r>
            <a:r>
              <a:rPr lang="en-US" sz="2400" dirty="0">
                <a:solidFill>
                  <a:srgbClr val="F8F8F8"/>
                </a:solidFill>
                <a:latin typeface="Helvetica" pitchFamily="2" charset="0"/>
              </a:rPr>
              <a:t>(</a:t>
            </a:r>
            <a:r>
              <a:rPr lang="en-US" sz="2400" dirty="0">
                <a:solidFill>
                  <a:srgbClr val="7587A6"/>
                </a:solidFill>
                <a:latin typeface="Helvetica" pitchFamily="2" charset="0"/>
              </a:rPr>
              <a:t>method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CDA869"/>
                </a:solidFill>
                <a:latin typeface="Helvetica" pitchFamily="2" charset="0"/>
              </a:rPr>
              <a:t>=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8F9D6A"/>
                </a:solidFill>
                <a:latin typeface="Helvetica" pitchFamily="2" charset="0"/>
              </a:rPr>
              <a:t>”mean”</a:t>
            </a:r>
            <a:r>
              <a:rPr lang="en-US" sz="2400" dirty="0">
                <a:solidFill>
                  <a:srgbClr val="F8F8F8"/>
                </a:solidFill>
                <a:latin typeface="Helvetica" pitchFamily="2" charset="0"/>
              </a:rPr>
              <a:t>))</a:t>
            </a:r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DF7FDDF6-26BD-C4D5-721A-B5A5D2B29E4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7607" r="7607"/>
          <a:stretch/>
        </p:blipFill>
        <p:spPr>
          <a:xfrm>
            <a:off x="8319547" y="408096"/>
            <a:ext cx="3635584" cy="4040909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62158D59-A0E9-B7B4-C12A-42D894D66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345" y="330864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Python Syntax</a:t>
            </a:r>
          </a:p>
        </p:txBody>
      </p:sp>
    </p:spTree>
    <p:extLst>
      <p:ext uri="{BB962C8B-B14F-4D97-AF65-F5344CB8AC3E}">
        <p14:creationId xmlns:p14="http://schemas.microsoft.com/office/powerpoint/2010/main" val="2165241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43F742C6-98D2-CBF9-93F8-606909FE3D12}"/>
              </a:ext>
            </a:extLst>
          </p:cNvPr>
          <p:cNvSpPr txBox="1"/>
          <p:nvPr/>
        </p:nvSpPr>
        <p:spPr>
          <a:xfrm>
            <a:off x="310345" y="3604035"/>
            <a:ext cx="78360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8F8F8"/>
                </a:solidFill>
                <a:latin typeface="Helvetica" pitchFamily="2" charset="0"/>
              </a:rPr>
              <a:t>object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CDA869"/>
                </a:solidFill>
                <a:latin typeface="Helvetica" pitchFamily="2" charset="0"/>
              </a:rPr>
              <a:t>=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F8F8F8"/>
                </a:solidFill>
                <a:latin typeface="Helvetica" pitchFamily="2" charset="0"/>
              </a:rPr>
              <a:t>function(</a:t>
            </a:r>
            <a:r>
              <a:rPr lang="en-US" sz="2400" dirty="0">
                <a:solidFill>
                  <a:srgbClr val="7587A6"/>
                </a:solidFill>
                <a:latin typeface="Helvetica" pitchFamily="2" charset="0"/>
              </a:rPr>
              <a:t>data </a:t>
            </a:r>
            <a:r>
              <a:rPr lang="en-US" sz="2400" dirty="0">
                <a:solidFill>
                  <a:srgbClr val="CDA869"/>
                </a:solidFill>
                <a:latin typeface="Helvetica" pitchFamily="2" charset="0"/>
              </a:rPr>
              <a:t>= </a:t>
            </a:r>
            <a:r>
              <a:rPr lang="en-US" sz="2400" dirty="0">
                <a:solidFill>
                  <a:srgbClr val="F8F8F8"/>
                </a:solidFill>
                <a:latin typeface="Helvetica" pitchFamily="2" charset="0"/>
              </a:rPr>
              <a:t>ds, </a:t>
            </a:r>
            <a:r>
              <a:rPr lang="en-US" sz="2400" dirty="0">
                <a:solidFill>
                  <a:srgbClr val="7587A6"/>
                </a:solidFill>
                <a:latin typeface="Helvetica" pitchFamily="2" charset="0"/>
              </a:rPr>
              <a:t>method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CDA869"/>
                </a:solidFill>
                <a:latin typeface="Helvetica" pitchFamily="2" charset="0"/>
              </a:rPr>
              <a:t>=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8F9D6A"/>
                </a:solidFill>
                <a:latin typeface="Helvetica" pitchFamily="2" charset="0"/>
              </a:rPr>
              <a:t>”mean"</a:t>
            </a:r>
            <a:r>
              <a:rPr lang="en-US" sz="2400" dirty="0">
                <a:solidFill>
                  <a:srgbClr val="F8F8F8"/>
                </a:solidFill>
                <a:latin typeface="Helvetica" pitchFamily="2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7587A6"/>
                </a:solidFill>
                <a:latin typeface="Helvetica" pitchFamily="2" charset="0"/>
              </a:rPr>
              <a:t>num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CDA869"/>
                </a:solidFill>
                <a:latin typeface="Helvetica" pitchFamily="2" charset="0"/>
              </a:rPr>
              <a:t>=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CF6A4C"/>
                </a:solidFill>
                <a:latin typeface="Helvetica" pitchFamily="2" charset="0"/>
              </a:rPr>
              <a:t>10</a:t>
            </a:r>
            <a:r>
              <a:rPr lang="en-US" sz="2400" dirty="0">
                <a:solidFill>
                  <a:srgbClr val="F8F8F8"/>
                </a:solidFill>
                <a:latin typeface="Helvetica" pitchFamily="2" charset="0"/>
              </a:rPr>
              <a:t>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AF019C-2FA7-11D2-9575-EFAF14171A46}"/>
              </a:ext>
            </a:extLst>
          </p:cNvPr>
          <p:cNvSpPr txBox="1"/>
          <p:nvPr/>
        </p:nvSpPr>
        <p:spPr>
          <a:xfrm>
            <a:off x="292282" y="2567707"/>
            <a:ext cx="757750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>
              <a:solidFill>
                <a:schemeClr val="bg1"/>
              </a:solidFill>
              <a:latin typeface="Helvetica" pitchFamily="2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Helvetica" pitchFamily="2" charset="0"/>
              </a:rPr>
              <a:t>Anatomy of a python function: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DFC2FB-2F1E-263E-F8AB-9D2431938456}"/>
              </a:ext>
            </a:extLst>
          </p:cNvPr>
          <p:cNvSpPr txBox="1"/>
          <p:nvPr/>
        </p:nvSpPr>
        <p:spPr>
          <a:xfrm>
            <a:off x="292281" y="3714870"/>
            <a:ext cx="757750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>
              <a:solidFill>
                <a:schemeClr val="bg1"/>
              </a:solidFill>
              <a:latin typeface="Helvetica" pitchFamily="2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Helvetica" pitchFamily="2" charset="0"/>
              </a:rPr>
              <a:t>Python objects have methods: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983084-CB67-6DE1-8788-ED4631586302}"/>
              </a:ext>
            </a:extLst>
          </p:cNvPr>
          <p:cNvSpPr txBox="1"/>
          <p:nvPr/>
        </p:nvSpPr>
        <p:spPr>
          <a:xfrm>
            <a:off x="-400858" y="4731339"/>
            <a:ext cx="80208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DAD085">
                    <a:alpha val="0"/>
                  </a:srgbClr>
                </a:solidFill>
                <a:effectLst>
                  <a:outerShdw sx="1000" sy="1000" algn="ctr" rotWithShape="0">
                    <a:srgbClr val="000000"/>
                  </a:outerShdw>
                </a:effectLst>
                <a:latin typeface="Helvetica" pitchFamily="2" charset="0"/>
              </a:rPr>
              <a:t>print</a:t>
            </a:r>
            <a:r>
              <a:rPr lang="en-US" sz="2400" dirty="0">
                <a:solidFill>
                  <a:srgbClr val="F8F8F8">
                    <a:alpha val="0"/>
                  </a:srgbClr>
                </a:solidFill>
                <a:effectLst>
                  <a:outerShdw sx="1000" sy="1000" algn="ctr" rotWithShape="0">
                    <a:srgbClr val="000000"/>
                  </a:outerShdw>
                </a:effectLst>
                <a:latin typeface="Helvetica" pitchFamily="2" charset="0"/>
              </a:rPr>
              <a:t>(</a:t>
            </a:r>
            <a:r>
              <a:rPr lang="en-US" sz="2400" dirty="0" err="1">
                <a:solidFill>
                  <a:srgbClr val="F8F8F8"/>
                </a:solidFill>
                <a:latin typeface="Helvetica" pitchFamily="2" charset="0"/>
              </a:rPr>
              <a:t>object.python_method</a:t>
            </a:r>
            <a:r>
              <a:rPr lang="en-US" sz="2400" dirty="0">
                <a:solidFill>
                  <a:srgbClr val="F8F8F8"/>
                </a:solidFill>
                <a:latin typeface="Helvetica" pitchFamily="2" charset="0"/>
              </a:rPr>
              <a:t>(</a:t>
            </a:r>
            <a:r>
              <a:rPr lang="en-US" sz="2400" dirty="0">
                <a:solidFill>
                  <a:srgbClr val="7587A6"/>
                </a:solidFill>
                <a:latin typeface="Helvetica" pitchFamily="2" charset="0"/>
              </a:rPr>
              <a:t>method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CDA869"/>
                </a:solidFill>
                <a:latin typeface="Helvetica" pitchFamily="2" charset="0"/>
              </a:rPr>
              <a:t>=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8F9D6A"/>
                </a:solidFill>
                <a:latin typeface="Helvetica" pitchFamily="2" charset="0"/>
              </a:rPr>
              <a:t>”mean"</a:t>
            </a:r>
            <a:r>
              <a:rPr lang="en-US" sz="2400" dirty="0">
                <a:solidFill>
                  <a:srgbClr val="F8F8F8"/>
                </a:solidFill>
                <a:latin typeface="Helvetica" pitchFamily="2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7587A6"/>
                </a:solidFill>
                <a:latin typeface="Helvetica" pitchFamily="2" charset="0"/>
              </a:rPr>
              <a:t>num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CDA869"/>
                </a:solidFill>
                <a:latin typeface="Helvetica" pitchFamily="2" charset="0"/>
              </a:rPr>
              <a:t>=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CF6A4C"/>
                </a:solidFill>
                <a:latin typeface="Helvetica" pitchFamily="2" charset="0"/>
              </a:rPr>
              <a:t>10</a:t>
            </a:r>
            <a:r>
              <a:rPr lang="en-US" sz="2400" dirty="0">
                <a:solidFill>
                  <a:srgbClr val="F8F8F8"/>
                </a:solidFill>
                <a:latin typeface="Helvetica" pitchFamily="2" charset="0"/>
              </a:rPr>
              <a:t>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E57238-28F3-BA3E-6A58-FF5475304538}"/>
              </a:ext>
            </a:extLst>
          </p:cNvPr>
          <p:cNvSpPr txBox="1"/>
          <p:nvPr/>
        </p:nvSpPr>
        <p:spPr>
          <a:xfrm>
            <a:off x="292280" y="4862033"/>
            <a:ext cx="757750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>
              <a:solidFill>
                <a:schemeClr val="bg1"/>
              </a:solidFill>
              <a:latin typeface="Helvetica" pitchFamily="2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Helvetica" pitchFamily="2" charset="0"/>
              </a:rPr>
              <a:t>Or printed directly to the console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4EDF57-DFC1-F446-B55C-4AE994A3F4E9}"/>
              </a:ext>
            </a:extLst>
          </p:cNvPr>
          <p:cNvSpPr txBox="1"/>
          <p:nvPr/>
        </p:nvSpPr>
        <p:spPr>
          <a:xfrm>
            <a:off x="-400859" y="5870995"/>
            <a:ext cx="80208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rgbClr val="DAD085">
                    <a:alpha val="0"/>
                  </a:srgbClr>
                </a:solidFill>
                <a:effectLst>
                  <a:outerShdw sx="1000" sy="1000" algn="ctr" rotWithShape="0">
                    <a:srgbClr val="000000"/>
                  </a:outerShdw>
                </a:effectLst>
                <a:latin typeface="Helvetica" pitchFamily="2" charset="0"/>
              </a:rPr>
              <a:t>Pri</a:t>
            </a:r>
            <a:r>
              <a:rPr lang="en-US" sz="2400" dirty="0">
                <a:solidFill>
                  <a:srgbClr val="DAD085">
                    <a:alpha val="0"/>
                  </a:srgbClr>
                </a:solidFill>
                <a:effectLst>
                  <a:outerShdw sx="1000" sy="1000" algn="ctr" rotWithShape="0">
                    <a:srgbClr val="000000"/>
                  </a:outerShdw>
                </a:effectLst>
                <a:latin typeface="Helvetica" pitchFamily="2" charset="0"/>
              </a:rPr>
              <a:t>.   </a:t>
            </a:r>
            <a:r>
              <a:rPr lang="en-US" sz="2400" dirty="0">
                <a:solidFill>
                  <a:srgbClr val="DAD085"/>
                </a:solidFill>
                <a:latin typeface="Helvetica" pitchFamily="2" charset="0"/>
              </a:rPr>
              <a:t>print</a:t>
            </a:r>
            <a:r>
              <a:rPr lang="en-US" sz="2400" dirty="0">
                <a:solidFill>
                  <a:srgbClr val="F8F8F8"/>
                </a:solidFill>
                <a:latin typeface="Helvetica" pitchFamily="2" charset="0"/>
              </a:rPr>
              <a:t>(</a:t>
            </a:r>
            <a:r>
              <a:rPr lang="en-US" sz="2400" dirty="0" err="1">
                <a:solidFill>
                  <a:srgbClr val="F8F8F8"/>
                </a:solidFill>
                <a:latin typeface="Helvetica" pitchFamily="2" charset="0"/>
              </a:rPr>
              <a:t>object.python_method</a:t>
            </a:r>
            <a:r>
              <a:rPr lang="en-US" sz="2400" dirty="0">
                <a:solidFill>
                  <a:srgbClr val="F8F8F8"/>
                </a:solidFill>
                <a:latin typeface="Helvetica" pitchFamily="2" charset="0"/>
              </a:rPr>
              <a:t>(</a:t>
            </a:r>
            <a:r>
              <a:rPr lang="en-US" sz="2400" dirty="0">
                <a:solidFill>
                  <a:srgbClr val="7587A6"/>
                </a:solidFill>
                <a:latin typeface="Helvetica" pitchFamily="2" charset="0"/>
              </a:rPr>
              <a:t>method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CDA869"/>
                </a:solidFill>
                <a:latin typeface="Helvetica" pitchFamily="2" charset="0"/>
              </a:rPr>
              <a:t>=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8F9D6A"/>
                </a:solidFill>
                <a:latin typeface="Helvetica" pitchFamily="2" charset="0"/>
              </a:rPr>
              <a:t>”mean”</a:t>
            </a:r>
            <a:r>
              <a:rPr lang="en-US" sz="2400" dirty="0">
                <a:solidFill>
                  <a:srgbClr val="F8F8F8"/>
                </a:solidFill>
                <a:latin typeface="Helvetica" pitchFamily="2" charset="0"/>
              </a:rPr>
              <a:t>))</a:t>
            </a:r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237335B7-F562-A684-B8EB-CEB0A5F317E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7607" r="7607"/>
          <a:stretch/>
        </p:blipFill>
        <p:spPr>
          <a:xfrm>
            <a:off x="8319547" y="408096"/>
            <a:ext cx="3635584" cy="4040909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EF5AA38A-8D40-082B-703A-CF680222B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345" y="330864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Python Syntax</a:t>
            </a:r>
          </a:p>
        </p:txBody>
      </p:sp>
    </p:spTree>
    <p:extLst>
      <p:ext uri="{BB962C8B-B14F-4D97-AF65-F5344CB8AC3E}">
        <p14:creationId xmlns:p14="http://schemas.microsoft.com/office/powerpoint/2010/main" val="718500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B7D35991-D8F4-329C-A16C-BB8C9AB5C04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7607" r="7607"/>
          <a:stretch/>
        </p:blipFill>
        <p:spPr>
          <a:xfrm>
            <a:off x="10096108" y="144145"/>
            <a:ext cx="1887969" cy="2098455"/>
          </a:xfrm>
          <a:prstGeom prst="rect">
            <a:avLst/>
          </a:prstGeom>
        </p:spPr>
      </p:pic>
      <p:sp>
        <p:nvSpPr>
          <p:cNvPr id="26" name="Title 1">
            <a:extLst>
              <a:ext uri="{FF2B5EF4-FFF2-40B4-BE49-F238E27FC236}">
                <a16:creationId xmlns:a16="http://schemas.microsoft.com/office/drawing/2014/main" id="{9205852F-1FB3-D85C-872B-EDADC16ED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345" y="330864"/>
            <a:ext cx="10515600" cy="1325563"/>
          </a:xfrm>
        </p:spPr>
        <p:txBody>
          <a:bodyPr>
            <a:normAutofit/>
          </a:bodyPr>
          <a:lstStyle/>
          <a:p>
            <a:r>
              <a:rPr lang="en-US" sz="6600" dirty="0"/>
              <a:t>Script Roadmap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6D5AAF-9281-63C9-9A2D-A521B755B7B6}"/>
              </a:ext>
            </a:extLst>
          </p:cNvPr>
          <p:cNvSpPr txBox="1"/>
          <p:nvPr/>
        </p:nvSpPr>
        <p:spPr>
          <a:xfrm>
            <a:off x="442112" y="1656427"/>
            <a:ext cx="5811543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02122"/>
                </a:solidFill>
              </a:rPr>
              <a:t>Installation of python and libraries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4000" b="0" i="0" dirty="0">
                <a:solidFill>
                  <a:srgbClr val="202122"/>
                </a:solidFill>
                <a:effectLst/>
              </a:rPr>
              <a:t>Objects, Methods and Functions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02122"/>
                </a:solidFill>
              </a:rPr>
              <a:t>Data Structures and indexing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4000" b="0" i="0" dirty="0" err="1">
                <a:solidFill>
                  <a:srgbClr val="202122"/>
                </a:solidFill>
                <a:effectLst/>
              </a:rPr>
              <a:t>Numpy</a:t>
            </a:r>
            <a:endParaRPr lang="en-US" sz="4000" b="0" i="0" dirty="0">
              <a:solidFill>
                <a:srgbClr val="202122"/>
              </a:solidFill>
              <a:effectLst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b="0" i="0" dirty="0">
                <a:solidFill>
                  <a:srgbClr val="202122"/>
                </a:solidFill>
                <a:effectLst/>
              </a:rPr>
              <a:t>Logic Structures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endParaRPr lang="en-US" sz="4000" b="0" i="0" dirty="0">
              <a:solidFill>
                <a:srgbClr val="202122"/>
              </a:solidFill>
              <a:effectLst/>
            </a:endParaRPr>
          </a:p>
          <a:p>
            <a:endParaRPr lang="en-US" sz="4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DF129C-9587-1FFE-FF47-8EBB69677300}"/>
              </a:ext>
            </a:extLst>
          </p:cNvPr>
          <p:cNvSpPr txBox="1"/>
          <p:nvPr/>
        </p:nvSpPr>
        <p:spPr>
          <a:xfrm>
            <a:off x="6096000" y="1656427"/>
            <a:ext cx="5811543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4000" b="0" i="0" dirty="0">
                <a:solidFill>
                  <a:srgbClr val="202122"/>
                </a:solidFill>
                <a:effectLst/>
              </a:rPr>
              <a:t>Loops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02122"/>
                </a:solidFill>
              </a:rPr>
              <a:t>Pandas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4000" b="0" i="0" dirty="0">
                <a:solidFill>
                  <a:srgbClr val="202122"/>
                </a:solidFill>
                <a:effectLst/>
              </a:rPr>
              <a:t>Functions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02122"/>
                </a:solidFill>
              </a:rPr>
              <a:t>Data analysis – </a:t>
            </a:r>
            <a:r>
              <a:rPr lang="en-US" sz="4000" dirty="0" err="1">
                <a:solidFill>
                  <a:srgbClr val="202122"/>
                </a:solidFill>
              </a:rPr>
              <a:t>statsmodels</a:t>
            </a:r>
            <a:endParaRPr lang="en-US" sz="4000" dirty="0">
              <a:solidFill>
                <a:srgbClr val="202122"/>
              </a:solidFill>
            </a:endParaRP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4000" dirty="0" err="1">
                <a:solidFill>
                  <a:srgbClr val="202122"/>
                </a:solidFill>
              </a:rPr>
              <a:t>Scipy</a:t>
            </a:r>
            <a:endParaRPr lang="en-US" sz="4000" dirty="0">
              <a:solidFill>
                <a:srgbClr val="202122"/>
              </a:solidFill>
            </a:endParaRP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02122"/>
                </a:solidFill>
              </a:rPr>
              <a:t>Graphics - seaborn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endParaRPr lang="en-US" sz="4000" dirty="0">
              <a:solidFill>
                <a:srgbClr val="202122"/>
              </a:solidFill>
            </a:endParaRPr>
          </a:p>
          <a:p>
            <a:pPr marL="571500" indent="-571500" algn="l">
              <a:buFont typeface="Arial" panose="020B0604020202020204" pitchFamily="34" charset="0"/>
              <a:buChar char="•"/>
            </a:pPr>
            <a:endParaRPr lang="en-US" sz="4000" b="0" i="0" dirty="0">
              <a:solidFill>
                <a:srgbClr val="202122"/>
              </a:solidFill>
              <a:effectLst/>
            </a:endParaRPr>
          </a:p>
          <a:p>
            <a:pPr marL="571500" indent="-571500" algn="l">
              <a:buFont typeface="Arial" panose="020B0604020202020204" pitchFamily="34" charset="0"/>
              <a:buChar char="•"/>
            </a:pPr>
            <a:endParaRPr lang="en-US" sz="4000" b="0" i="0" dirty="0">
              <a:solidFill>
                <a:srgbClr val="202122"/>
              </a:solidFill>
              <a:effectLst/>
            </a:endParaRPr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4029401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C6CAE85B-0016-6AE9-0F01-92A419A08E3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094" r="44270" b="998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42FB939-C4DD-9C46-8076-DCFC0E40C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896" y="1046948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/>
              <a:t>Jumping into some code</a:t>
            </a:r>
          </a:p>
        </p:txBody>
      </p:sp>
    </p:spTree>
    <p:extLst>
      <p:ext uri="{BB962C8B-B14F-4D97-AF65-F5344CB8AC3E}">
        <p14:creationId xmlns:p14="http://schemas.microsoft.com/office/powerpoint/2010/main" val="13179839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7976</TotalTime>
  <Words>547</Words>
  <Application>Microsoft Macintosh PowerPoint</Application>
  <PresentationFormat>Widescreen</PresentationFormat>
  <Paragraphs>123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Helvetica</vt:lpstr>
      <vt:lpstr>Office Theme</vt:lpstr>
      <vt:lpstr>Biology 6100 Intro to Python</vt:lpstr>
      <vt:lpstr>What is Python?</vt:lpstr>
      <vt:lpstr>Python History</vt:lpstr>
      <vt:lpstr>Python Culture</vt:lpstr>
      <vt:lpstr>What is it good for?</vt:lpstr>
      <vt:lpstr>What is it good for?</vt:lpstr>
      <vt:lpstr>What sites/apps use it?</vt:lpstr>
      <vt:lpstr>Python Versions</vt:lpstr>
      <vt:lpstr>A focus on community modules</vt:lpstr>
      <vt:lpstr>Using python as an R User</vt:lpstr>
      <vt:lpstr>R Users and Python…</vt:lpstr>
      <vt:lpstr>Python in Positron</vt:lpstr>
      <vt:lpstr>Python Syntax</vt:lpstr>
      <vt:lpstr>Python Syntax</vt:lpstr>
      <vt:lpstr>Python Syntax</vt:lpstr>
      <vt:lpstr>Python Syntax</vt:lpstr>
      <vt:lpstr>Python Syntax</vt:lpstr>
      <vt:lpstr>Script Roadmap</vt:lpstr>
      <vt:lpstr>Jumping into some code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Phillip Burnham</dc:creator>
  <cp:lastModifiedBy>Phillip Burnham</cp:lastModifiedBy>
  <cp:revision>43</cp:revision>
  <dcterms:created xsi:type="dcterms:W3CDTF">2021-08-24T13:05:44Z</dcterms:created>
  <dcterms:modified xsi:type="dcterms:W3CDTF">2026-03-17T11:36:03Z</dcterms:modified>
</cp:coreProperties>
</file>