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0"/>
  </p:notesMasterIdLst>
  <p:sldIdLst>
    <p:sldId id="324" r:id="rId2"/>
    <p:sldId id="325" r:id="rId3"/>
    <p:sldId id="294" r:id="rId4"/>
    <p:sldId id="323" r:id="rId5"/>
    <p:sldId id="317" r:id="rId6"/>
    <p:sldId id="316" r:id="rId7"/>
    <p:sldId id="321" r:id="rId8"/>
    <p:sldId id="322" r:id="rId9"/>
    <p:sldId id="315" r:id="rId10"/>
    <p:sldId id="318" r:id="rId11"/>
    <p:sldId id="319" r:id="rId12"/>
    <p:sldId id="313" r:id="rId13"/>
    <p:sldId id="301" r:id="rId14"/>
    <p:sldId id="304" r:id="rId15"/>
    <p:sldId id="305" r:id="rId16"/>
    <p:sldId id="312" r:id="rId17"/>
    <p:sldId id="326" r:id="rId18"/>
    <p:sldId id="29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655EC-3BDD-8748-9DAB-B505E0EBC127}" type="datetimeFigureOut">
              <a:rPr lang="en-US" smtClean="0"/>
              <a:t>6/13/23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65BC1-C622-5340-8072-EB2A8B709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5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4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5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8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1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20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1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0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4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6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9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8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0924F-1C89-9F4D-AA8B-982AFE68DED4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0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67AABFA-A691-784C-55BA-D31BCCF5D4AD}"/>
              </a:ext>
            </a:extLst>
          </p:cNvPr>
          <p:cNvGrpSpPr/>
          <p:nvPr/>
        </p:nvGrpSpPr>
        <p:grpSpPr>
          <a:xfrm>
            <a:off x="0" y="-213221"/>
            <a:ext cx="10020924" cy="6885776"/>
            <a:chOff x="1" y="-222648"/>
            <a:chExt cx="9851855" cy="674608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917B8D-DDFE-359D-9511-6FF243A666D5}"/>
                </a:ext>
              </a:extLst>
            </p:cNvPr>
            <p:cNvGrpSpPr/>
            <p:nvPr/>
          </p:nvGrpSpPr>
          <p:grpSpPr>
            <a:xfrm>
              <a:off x="1" y="-222648"/>
              <a:ext cx="9851855" cy="5851456"/>
              <a:chOff x="1" y="-222648"/>
              <a:chExt cx="9851855" cy="5851456"/>
            </a:xfrm>
          </p:grpSpPr>
          <p:pic>
            <p:nvPicPr>
              <p:cNvPr id="6" name="Picture 5" descr="A picture containing text, screenshot, design&#10;&#10;Description automatically generated">
                <a:extLst>
                  <a:ext uri="{FF2B5EF4-FFF2-40B4-BE49-F238E27FC236}">
                    <a16:creationId xmlns:a16="http://schemas.microsoft.com/office/drawing/2014/main" id="{809D0B7D-B301-C8C1-4C80-6EB2DA29AE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55"/>
              <a:stretch/>
            </p:blipFill>
            <p:spPr>
              <a:xfrm>
                <a:off x="1" y="-222648"/>
                <a:ext cx="9851855" cy="5746524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33424E2-9190-74A6-69F3-1EC89798CA17}"/>
                  </a:ext>
                </a:extLst>
              </p:cNvPr>
              <p:cNvSpPr/>
              <p:nvPr/>
            </p:nvSpPr>
            <p:spPr>
              <a:xfrm>
                <a:off x="6445770" y="2323476"/>
                <a:ext cx="3222886" cy="3305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" name="Picture 11" descr="A black and yellow gears&#10;&#10;Description automatically generated with low confidence">
              <a:extLst>
                <a:ext uri="{FF2B5EF4-FFF2-40B4-BE49-F238E27FC236}">
                  <a16:creationId xmlns:a16="http://schemas.microsoft.com/office/drawing/2014/main" id="{55480BAC-04BB-D0A0-4DC4-7030DD28E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403472">
              <a:off x="483282" y="5608958"/>
              <a:ext cx="3837003" cy="914479"/>
            </a:xfrm>
            <a:prstGeom prst="rect">
              <a:avLst/>
            </a:prstGeom>
          </p:spPr>
        </p:pic>
        <p:pic>
          <p:nvPicPr>
            <p:cNvPr id="13" name="Picture 12" descr="A black and yellow gears&#10;&#10;Description automatically generated with low confidence">
              <a:extLst>
                <a:ext uri="{FF2B5EF4-FFF2-40B4-BE49-F238E27FC236}">
                  <a16:creationId xmlns:a16="http://schemas.microsoft.com/office/drawing/2014/main" id="{228E821C-BE41-43D9-8F07-5F848B8DA6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15" r="50400" b="-1"/>
            <a:stretch/>
          </p:blipFill>
          <p:spPr>
            <a:xfrm rot="21406798">
              <a:off x="4307473" y="5520059"/>
              <a:ext cx="1903146" cy="86039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3228D6-2A03-2511-59EE-82DA72BCB73E}"/>
                </a:ext>
              </a:extLst>
            </p:cNvPr>
            <p:cNvSpPr/>
            <p:nvPr/>
          </p:nvSpPr>
          <p:spPr>
            <a:xfrm rot="20464278">
              <a:off x="224852" y="5950256"/>
              <a:ext cx="382250" cy="3381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A650C31-1353-68BC-369C-20E03A66962A}"/>
                </a:ext>
              </a:extLst>
            </p:cNvPr>
            <p:cNvSpPr/>
            <p:nvPr/>
          </p:nvSpPr>
          <p:spPr>
            <a:xfrm rot="18513601">
              <a:off x="424939" y="5759449"/>
              <a:ext cx="547260" cy="7837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87DE9C71-AFF1-71C4-9DDA-B0A976429EB3}"/>
              </a:ext>
            </a:extLst>
          </p:cNvPr>
          <p:cNvSpPr/>
          <p:nvPr/>
        </p:nvSpPr>
        <p:spPr>
          <a:xfrm>
            <a:off x="7292714" y="2508704"/>
            <a:ext cx="4362138" cy="3924521"/>
          </a:xfrm>
          <a:prstGeom prst="flowChartDocument">
            <a:avLst/>
          </a:prstGeom>
          <a:solidFill>
            <a:srgbClr val="004A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2D542-AA7D-9180-6DF0-51E3AE370804}"/>
              </a:ext>
            </a:extLst>
          </p:cNvPr>
          <p:cNvSpPr txBox="1"/>
          <p:nvPr/>
        </p:nvSpPr>
        <p:spPr>
          <a:xfrm>
            <a:off x="7603670" y="2764550"/>
            <a:ext cx="3740226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i="1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Session: </a:t>
            </a:r>
          </a:p>
          <a:p>
            <a:pPr algn="ctr"/>
            <a:endParaRPr lang="en-US" b="1" i="1" dirty="0">
              <a:solidFill>
                <a:schemeClr val="bg1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 algn="ctr"/>
            <a:r>
              <a:rPr lang="en-US" sz="2200" b="1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Python 101 - Intro to Python, </a:t>
            </a:r>
            <a:r>
              <a:rPr lang="en-US" sz="2200" b="1" dirty="0" err="1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scipy</a:t>
            </a:r>
            <a:r>
              <a:rPr lang="en-US" sz="2200" b="1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, </a:t>
            </a:r>
            <a:r>
              <a:rPr lang="en-US" sz="2200" b="1" dirty="0" err="1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numpy</a:t>
            </a:r>
            <a:r>
              <a:rPr lang="en-US" sz="2200" b="1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 and more</a:t>
            </a:r>
            <a:endParaRPr lang="en-US" b="1" dirty="0">
              <a:solidFill>
                <a:schemeClr val="bg1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Avenir Next LT Pro Demi" panose="020B0604020202020204" pitchFamily="34" charset="0"/>
              </a:rPr>
              <a:t>----------</a:t>
            </a:r>
            <a:endParaRPr lang="en-US" b="1" dirty="0">
              <a:solidFill>
                <a:schemeClr val="bg1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 algn="ctr"/>
            <a:endParaRPr lang="en-US" b="1" dirty="0">
              <a:solidFill>
                <a:schemeClr val="bg1"/>
              </a:solidFill>
              <a:latin typeface="Avenir Next LT Pro Demi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venir Next LT Pro Demi" panose="020B0604020202020204" pitchFamily="34" charset="0"/>
              </a:rPr>
              <a:t>Tuesday June 15, 2023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venir Next LT Pro Demi" panose="020B0604020202020204" pitchFamily="34" charset="0"/>
              </a:rPr>
              <a:t>9AM-12PM </a:t>
            </a:r>
          </a:p>
          <a:p>
            <a:pPr algn="ctr"/>
            <a:endParaRPr lang="en-US" sz="1000" b="1" dirty="0">
              <a:solidFill>
                <a:schemeClr val="bg1"/>
              </a:solidFill>
              <a:latin typeface="Avenir Next LT Pro Demi" panose="020B0604020202020204" pitchFamily="34" charset="0"/>
            </a:endParaRPr>
          </a:p>
          <a:p>
            <a:pPr algn="ctr"/>
            <a:endParaRPr lang="en-US" b="1" dirty="0">
              <a:solidFill>
                <a:srgbClr val="F4F1E3"/>
              </a:solidFill>
              <a:latin typeface="Avenir Next LT Pro Demi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02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What are we doing today?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D5AAF-9281-63C9-9A2D-A521B755B7B6}"/>
              </a:ext>
            </a:extLst>
          </p:cNvPr>
          <p:cNvSpPr txBox="1"/>
          <p:nvPr/>
        </p:nvSpPr>
        <p:spPr>
          <a:xfrm>
            <a:off x="310345" y="2227882"/>
            <a:ext cx="109523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Looking at a few slides (history and syntax)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Installing reticulate, python</a:t>
            </a:r>
            <a:r>
              <a:rPr lang="en-US" sz="4400" dirty="0">
                <a:solidFill>
                  <a:srgbClr val="202122"/>
                </a:solidFill>
              </a:rPr>
              <a:t>, packages etc.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Working though some code </a:t>
            </a:r>
            <a:r>
              <a:rPr lang="en-US" sz="4400" dirty="0">
                <a:solidFill>
                  <a:srgbClr val="202122"/>
                </a:solidFill>
              </a:rPr>
              <a:t>of</a:t>
            </a:r>
            <a:r>
              <a:rPr lang="en-US" sz="4400" b="0" i="0" dirty="0">
                <a:solidFill>
                  <a:srgbClr val="202122"/>
                </a:solidFill>
                <a:effectLst/>
              </a:rPr>
              <a:t> increasing complexity</a:t>
            </a:r>
            <a:r>
              <a:rPr lang="en-US" sz="4400" dirty="0">
                <a:solidFill>
                  <a:srgbClr val="202122"/>
                </a:solidFill>
              </a:rPr>
              <a:t>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Question checkpoints throughout the script.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Two 10 minute breaks</a:t>
            </a:r>
          </a:p>
          <a:p>
            <a:pPr algn="l"/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561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What is Python?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7AEBD-0359-D0D7-937E-FCE4CFD8FAB0}"/>
              </a:ext>
            </a:extLst>
          </p:cNvPr>
          <p:cNvSpPr txBox="1"/>
          <p:nvPr/>
        </p:nvSpPr>
        <p:spPr>
          <a:xfrm>
            <a:off x="241597" y="2429319"/>
            <a:ext cx="11459676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Python is a general programming language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It is high-level object-oriented language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It has a focus on simplicity/readability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A very versatile/powerful open source language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Highly favored by developers and data scientists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2936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Python History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7AEBD-0359-D0D7-937E-FCE4CFD8FAB0}"/>
              </a:ext>
            </a:extLst>
          </p:cNvPr>
          <p:cNvSpPr txBox="1"/>
          <p:nvPr/>
        </p:nvSpPr>
        <p:spPr>
          <a:xfrm>
            <a:off x="310345" y="2325625"/>
            <a:ext cx="9789475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Developed by Guido van Rossum in 1989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Written in 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Python 2.0 launched in 2000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Python 3.0 launched in 2008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Most notable for its design </a:t>
            </a:r>
            <a:r>
              <a:rPr lang="en-US" sz="4400" dirty="0" err="1">
                <a:solidFill>
                  <a:srgbClr val="202122"/>
                </a:solidFill>
              </a:rPr>
              <a:t>philosphy</a:t>
            </a:r>
            <a:endParaRPr lang="en-US" sz="4400" dirty="0">
              <a:solidFill>
                <a:srgbClr val="20212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1774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Python Culture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3EEFE3-9901-FC03-7972-A423EC4CBC26}"/>
              </a:ext>
            </a:extLst>
          </p:cNvPr>
          <p:cNvSpPr txBox="1"/>
          <p:nvPr/>
        </p:nvSpPr>
        <p:spPr>
          <a:xfrm>
            <a:off x="833216" y="2063491"/>
            <a:ext cx="874002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Beautiful is better than ugly.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Explicit is better than implicit.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Simple is better than complex.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Complex is better than complicated.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Readability counts.</a:t>
            </a:r>
          </a:p>
          <a:p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2C404-8014-2CC0-E857-97AD1AD0798A}"/>
              </a:ext>
            </a:extLst>
          </p:cNvPr>
          <p:cNvSpPr txBox="1"/>
          <p:nvPr/>
        </p:nvSpPr>
        <p:spPr>
          <a:xfrm>
            <a:off x="6096000" y="5542961"/>
            <a:ext cx="2338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Zen of Python,PEP20</a:t>
            </a:r>
          </a:p>
        </p:txBody>
      </p:sp>
    </p:spTree>
    <p:extLst>
      <p:ext uri="{BB962C8B-B14F-4D97-AF65-F5344CB8AC3E}">
        <p14:creationId xmlns:p14="http://schemas.microsoft.com/office/powerpoint/2010/main" val="301855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What is it good for?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4ACD6D-13C8-98DD-1206-3F642EF6510A}"/>
              </a:ext>
            </a:extLst>
          </p:cNvPr>
          <p:cNvSpPr txBox="1"/>
          <p:nvPr/>
        </p:nvSpPr>
        <p:spPr>
          <a:xfrm>
            <a:off x="965192" y="1656427"/>
            <a:ext cx="754721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Web/software development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Machine Learning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Mathematical Modeling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Network science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Data analysis and visualization</a:t>
            </a:r>
          </a:p>
          <a:p>
            <a:pPr algn="l"/>
            <a:endParaRPr lang="en-US" sz="4400" dirty="0">
              <a:solidFill>
                <a:srgbClr val="20212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584054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What sites/apps use it?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F947A-E193-8024-D0A7-3AE6D1539464}"/>
              </a:ext>
            </a:extLst>
          </p:cNvPr>
          <p:cNvSpPr txBox="1"/>
          <p:nvPr/>
        </p:nvSpPr>
        <p:spPr>
          <a:xfrm>
            <a:off x="965192" y="1656427"/>
            <a:ext cx="475687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Google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Spotify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 err="1">
                <a:solidFill>
                  <a:srgbClr val="202122"/>
                </a:solidFill>
              </a:rPr>
              <a:t>y</a:t>
            </a:r>
            <a:r>
              <a:rPr lang="en-US" sz="4400" b="0" i="0" dirty="0" err="1">
                <a:solidFill>
                  <a:srgbClr val="202122"/>
                </a:solidFill>
                <a:effectLst/>
              </a:rPr>
              <a:t>outube</a:t>
            </a: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Dropbox</a:t>
            </a: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Instagram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Uber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Netflix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17836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Python Versions</a:t>
            </a:r>
          </a:p>
        </p:txBody>
      </p:sp>
      <p:pic>
        <p:nvPicPr>
          <p:cNvPr id="3" name="Picture 2" descr="A picture containing font, logo, symbol, graphics&#10;&#10;Description automatically generated">
            <a:extLst>
              <a:ext uri="{FF2B5EF4-FFF2-40B4-BE49-F238E27FC236}">
                <a16:creationId xmlns:a16="http://schemas.microsoft.com/office/drawing/2014/main" id="{CECD96BB-BBE3-B2CD-DE11-3F4E6E2D74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283"/>
          <a:stretch/>
        </p:blipFill>
        <p:spPr>
          <a:xfrm>
            <a:off x="1052199" y="2242600"/>
            <a:ext cx="3631011" cy="3714484"/>
          </a:xfrm>
          <a:prstGeom prst="rect">
            <a:avLst/>
          </a:prstGeom>
        </p:spPr>
      </p:pic>
      <p:pic>
        <p:nvPicPr>
          <p:cNvPr id="4" name="Picture 3" descr="A picture containing font, logo, symbol, graphics&#10;&#10;Description automatically generated">
            <a:extLst>
              <a:ext uri="{FF2B5EF4-FFF2-40B4-BE49-F238E27FC236}">
                <a16:creationId xmlns:a16="http://schemas.microsoft.com/office/drawing/2014/main" id="{EB4FC798-EF87-70FF-239F-C85AF31A4F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931"/>
          <a:stretch/>
        </p:blipFill>
        <p:spPr>
          <a:xfrm>
            <a:off x="6593151" y="2242600"/>
            <a:ext cx="3502957" cy="37144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BDB8E2-0165-FF5E-83CD-FEA24846BA15}"/>
              </a:ext>
            </a:extLst>
          </p:cNvPr>
          <p:cNvSpPr txBox="1"/>
          <p:nvPr/>
        </p:nvSpPr>
        <p:spPr>
          <a:xfrm>
            <a:off x="5387546" y="3684343"/>
            <a:ext cx="812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60375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A focus on community modules</a:t>
            </a:r>
          </a:p>
        </p:txBody>
      </p:sp>
      <p:pic>
        <p:nvPicPr>
          <p:cNvPr id="4" name="Picture 3" descr="A blue and black logo&#10;&#10;Description automatically generated with low confidence">
            <a:extLst>
              <a:ext uri="{FF2B5EF4-FFF2-40B4-BE49-F238E27FC236}">
                <a16:creationId xmlns:a16="http://schemas.microsoft.com/office/drawing/2014/main" id="{1B6AC98D-CFA8-6EEA-6B34-77A9CCED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98" y="2951733"/>
            <a:ext cx="4312844" cy="1940780"/>
          </a:xfrm>
          <a:prstGeom prst="rect">
            <a:avLst/>
          </a:prstGeom>
        </p:spPr>
      </p:pic>
      <p:pic>
        <p:nvPicPr>
          <p:cNvPr id="6" name="Picture 5" descr="A blue text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83427F45-8319-A787-9207-82F516551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313" y="3874178"/>
            <a:ext cx="5190382" cy="2098455"/>
          </a:xfrm>
          <a:prstGeom prst="rect">
            <a:avLst/>
          </a:prstGeom>
        </p:spPr>
      </p:pic>
      <p:pic>
        <p:nvPicPr>
          <p:cNvPr id="8" name="Picture 7" descr="A picture containing font, symbol, logo, graphics&#10;&#10;Description automatically generated">
            <a:extLst>
              <a:ext uri="{FF2B5EF4-FFF2-40B4-BE49-F238E27FC236}">
                <a16:creationId xmlns:a16="http://schemas.microsoft.com/office/drawing/2014/main" id="{941FF818-04CF-774E-7BE2-55AE8D778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399" y="1656427"/>
            <a:ext cx="4312845" cy="2082506"/>
          </a:xfrm>
          <a:prstGeom prst="rect">
            <a:avLst/>
          </a:prstGeom>
        </p:spPr>
      </p:pic>
      <p:pic>
        <p:nvPicPr>
          <p:cNvPr id="10" name="Picture 9" descr="A close-up of a logo&#10;&#10;Description automatically generated with low confidence">
            <a:extLst>
              <a:ext uri="{FF2B5EF4-FFF2-40B4-BE49-F238E27FC236}">
                <a16:creationId xmlns:a16="http://schemas.microsoft.com/office/drawing/2014/main" id="{E697F0E7-F882-9BFD-C4AF-0A2130AD4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329" y="4719660"/>
            <a:ext cx="6227805" cy="2075935"/>
          </a:xfrm>
          <a:prstGeom prst="rect">
            <a:avLst/>
          </a:prstGeom>
        </p:spPr>
      </p:pic>
      <p:pic>
        <p:nvPicPr>
          <p:cNvPr id="13" name="Picture 12" descr="A picture containing graphics, font, logo, screenshot&#10;&#10;Description automatically generated">
            <a:extLst>
              <a:ext uri="{FF2B5EF4-FFF2-40B4-BE49-F238E27FC236}">
                <a16:creationId xmlns:a16="http://schemas.microsoft.com/office/drawing/2014/main" id="{E9B8948B-1905-B926-3E8A-0835928CA7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329" y="1494433"/>
            <a:ext cx="4941520" cy="14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62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Using python as an R User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FFF5CE-41ED-8FB5-95C5-8738ED83D11A}"/>
              </a:ext>
            </a:extLst>
          </p:cNvPr>
          <p:cNvSpPr txBox="1"/>
          <p:nvPr/>
        </p:nvSpPr>
        <p:spPr>
          <a:xfrm>
            <a:off x="310344" y="1682434"/>
            <a:ext cx="97857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Python can be tricky to install: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Lots of versions, package installers IDEs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202122"/>
              </a:solidFill>
            </a:endParaRPr>
          </a:p>
          <a:p>
            <a:pPr lvl="1"/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F8D35-F824-D41C-013A-A9AABA7DC245}"/>
              </a:ext>
            </a:extLst>
          </p:cNvPr>
          <p:cNvSpPr txBox="1"/>
          <p:nvPr/>
        </p:nvSpPr>
        <p:spPr>
          <a:xfrm>
            <a:off x="310344" y="3688348"/>
            <a:ext cx="97857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As a scripting language, setting the interpreter and debugging is different than the way R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202122"/>
              </a:solidFill>
            </a:endParaRPr>
          </a:p>
          <a:p>
            <a:pPr lvl="1"/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90408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R Studio with Reticulate</a:t>
            </a:r>
          </a:p>
        </p:txBody>
      </p:sp>
      <p:pic>
        <p:nvPicPr>
          <p:cNvPr id="3" name="Picture 2" descr="A picture containing font, graphics, logo, symbol&#10;&#10;Description automatically generated">
            <a:extLst>
              <a:ext uri="{FF2B5EF4-FFF2-40B4-BE49-F238E27FC236}">
                <a16:creationId xmlns:a16="http://schemas.microsoft.com/office/drawing/2014/main" id="{01EE1092-5EB9-EE5E-48F4-B252AD03B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531" y="3143566"/>
            <a:ext cx="5791200" cy="203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6D5AAF-9281-63C9-9A2D-A521B755B7B6}"/>
              </a:ext>
            </a:extLst>
          </p:cNvPr>
          <p:cNvSpPr txBox="1"/>
          <p:nvPr/>
        </p:nvSpPr>
        <p:spPr>
          <a:xfrm>
            <a:off x="310344" y="1682434"/>
            <a:ext cx="588253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IDE for 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Supports Python through Reticulate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Can </a:t>
            </a:r>
            <a:r>
              <a:rPr lang="en-US" sz="4400" dirty="0">
                <a:solidFill>
                  <a:srgbClr val="202122"/>
                </a:solidFill>
              </a:rPr>
              <a:t>run code line by line as in 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Familiar to R user</a:t>
            </a:r>
            <a:r>
              <a:rPr lang="en-US" sz="4400" dirty="0">
                <a:solidFill>
                  <a:srgbClr val="202122"/>
                </a:solidFill>
              </a:rPr>
              <a:t>s and language switching</a:t>
            </a: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algn="l"/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6960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8319547" y="408095"/>
            <a:ext cx="3636249" cy="40416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F742C6-98D2-CBF9-93F8-606909FE3D12}"/>
              </a:ext>
            </a:extLst>
          </p:cNvPr>
          <p:cNvSpPr txBox="1"/>
          <p:nvPr/>
        </p:nvSpPr>
        <p:spPr>
          <a:xfrm>
            <a:off x="310345" y="3604035"/>
            <a:ext cx="783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function(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data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ds,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4E4BCA0C-4CD8-CC4B-CF9C-392836C89BF2}"/>
              </a:ext>
            </a:extLst>
          </p:cNvPr>
          <p:cNvSpPr/>
          <p:nvPr/>
        </p:nvSpPr>
        <p:spPr>
          <a:xfrm rot="16200000">
            <a:off x="1947658" y="3782768"/>
            <a:ext cx="318652" cy="1013822"/>
          </a:xfrm>
          <a:prstGeom prst="leftBrace">
            <a:avLst>
              <a:gd name="adj1" fmla="val 21795"/>
              <a:gd name="adj2" fmla="val 50000"/>
            </a:avLst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47042A6E-8748-FD6D-0FF6-BE4C6BA2AC8C}"/>
              </a:ext>
            </a:extLst>
          </p:cNvPr>
          <p:cNvSpPr/>
          <p:nvPr/>
        </p:nvSpPr>
        <p:spPr>
          <a:xfrm rot="16200000">
            <a:off x="636827" y="3903577"/>
            <a:ext cx="318652" cy="772204"/>
          </a:xfrm>
          <a:prstGeom prst="leftBrace">
            <a:avLst>
              <a:gd name="adj1" fmla="val 21795"/>
              <a:gd name="adj2" fmla="val 50000"/>
            </a:avLst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05BA6653-726B-09E3-B8CA-BEB3E57488AC}"/>
              </a:ext>
            </a:extLst>
          </p:cNvPr>
          <p:cNvSpPr/>
          <p:nvPr/>
        </p:nvSpPr>
        <p:spPr>
          <a:xfrm rot="16200000">
            <a:off x="5202383" y="1689643"/>
            <a:ext cx="318652" cy="5200072"/>
          </a:xfrm>
          <a:prstGeom prst="leftBrace">
            <a:avLst>
              <a:gd name="adj1" fmla="val 21795"/>
              <a:gd name="adj2" fmla="val 50000"/>
            </a:avLst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8CA7D-312F-D497-04F4-86E4E59D976A}"/>
              </a:ext>
            </a:extLst>
          </p:cNvPr>
          <p:cNvSpPr txBox="1"/>
          <p:nvPr/>
        </p:nvSpPr>
        <p:spPr>
          <a:xfrm>
            <a:off x="4595091" y="4414691"/>
            <a:ext cx="1639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Arguments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76DF0-AD03-5CCC-A00D-64C08D054894}"/>
              </a:ext>
            </a:extLst>
          </p:cNvPr>
          <p:cNvSpPr txBox="1"/>
          <p:nvPr/>
        </p:nvSpPr>
        <p:spPr>
          <a:xfrm>
            <a:off x="1355437" y="4409574"/>
            <a:ext cx="1533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Function name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A1916-FCFA-EB70-4220-6E0E34EE6485}"/>
              </a:ext>
            </a:extLst>
          </p:cNvPr>
          <p:cNvSpPr txBox="1"/>
          <p:nvPr/>
        </p:nvSpPr>
        <p:spPr>
          <a:xfrm>
            <a:off x="83235" y="4409573"/>
            <a:ext cx="1533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Object name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Python Syntax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11511-0CF5-29EB-0203-7D209FB216D8}"/>
              </a:ext>
            </a:extLst>
          </p:cNvPr>
          <p:cNvSpPr txBox="1"/>
          <p:nvPr/>
        </p:nvSpPr>
        <p:spPr>
          <a:xfrm>
            <a:off x="292282" y="2567707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Anatomy of a python function:</a:t>
            </a:r>
          </a:p>
        </p:txBody>
      </p:sp>
    </p:spTree>
    <p:extLst>
      <p:ext uri="{BB962C8B-B14F-4D97-AF65-F5344CB8AC3E}">
        <p14:creationId xmlns:p14="http://schemas.microsoft.com/office/powerpoint/2010/main" val="33293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 animBg="1"/>
      <p:bldP spid="19" grpId="0" animBg="1"/>
      <p:bldP spid="20" grpId="0" animBg="1"/>
      <p:bldP spid="21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3F742C6-98D2-CBF9-93F8-606909FE3D12}"/>
              </a:ext>
            </a:extLst>
          </p:cNvPr>
          <p:cNvSpPr txBox="1"/>
          <p:nvPr/>
        </p:nvSpPr>
        <p:spPr>
          <a:xfrm>
            <a:off x="310345" y="3604035"/>
            <a:ext cx="783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function(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data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ds,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05BA6653-726B-09E3-B8CA-BEB3E57488AC}"/>
              </a:ext>
            </a:extLst>
          </p:cNvPr>
          <p:cNvSpPr/>
          <p:nvPr/>
        </p:nvSpPr>
        <p:spPr>
          <a:xfrm rot="16200000">
            <a:off x="3207329" y="3684697"/>
            <a:ext cx="318652" cy="1209963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8CA7D-312F-D497-04F4-86E4E59D976A}"/>
              </a:ext>
            </a:extLst>
          </p:cNvPr>
          <p:cNvSpPr txBox="1"/>
          <p:nvPr/>
        </p:nvSpPr>
        <p:spPr>
          <a:xfrm>
            <a:off x="2556164" y="4424849"/>
            <a:ext cx="1639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Pass a dataset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BBD59C56-5908-BA09-7AB8-036A11188FFE}"/>
              </a:ext>
            </a:extLst>
          </p:cNvPr>
          <p:cNvSpPr/>
          <p:nvPr/>
        </p:nvSpPr>
        <p:spPr>
          <a:xfrm rot="16200000">
            <a:off x="5165439" y="3176696"/>
            <a:ext cx="318652" cy="2225966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F7171452-7A9F-E435-AB60-0176458E271B}"/>
              </a:ext>
            </a:extLst>
          </p:cNvPr>
          <p:cNvSpPr/>
          <p:nvPr/>
        </p:nvSpPr>
        <p:spPr>
          <a:xfrm rot="16200000">
            <a:off x="7112002" y="3599261"/>
            <a:ext cx="318652" cy="1380834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3684D-AB5C-F899-2B99-5141C1BA6140}"/>
              </a:ext>
            </a:extLst>
          </p:cNvPr>
          <p:cNvSpPr txBox="1"/>
          <p:nvPr/>
        </p:nvSpPr>
        <p:spPr>
          <a:xfrm>
            <a:off x="4174729" y="4424849"/>
            <a:ext cx="2322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Pass a setting to the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C1705-91C8-A370-89EB-61559E709475}"/>
              </a:ext>
            </a:extLst>
          </p:cNvPr>
          <p:cNvSpPr txBox="1"/>
          <p:nvPr/>
        </p:nvSpPr>
        <p:spPr>
          <a:xfrm>
            <a:off x="6412238" y="4424848"/>
            <a:ext cx="1863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Or a numeric value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712DD0A-6332-12B1-4C03-89F52EA3C6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8319547" y="408096"/>
            <a:ext cx="3635584" cy="404090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FA83EAA-688D-DFB8-209D-67E662D2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Python Syntax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41B86-1947-48DC-4CEA-E964C7DDF8D1}"/>
              </a:ext>
            </a:extLst>
          </p:cNvPr>
          <p:cNvSpPr txBox="1"/>
          <p:nvPr/>
        </p:nvSpPr>
        <p:spPr>
          <a:xfrm>
            <a:off x="292282" y="2567707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Anatomy of a python function:</a:t>
            </a:r>
          </a:p>
        </p:txBody>
      </p:sp>
    </p:spTree>
    <p:extLst>
      <p:ext uri="{BB962C8B-B14F-4D97-AF65-F5344CB8AC3E}">
        <p14:creationId xmlns:p14="http://schemas.microsoft.com/office/powerpoint/2010/main" val="194998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" grpId="0" animBg="1"/>
      <p:bldP spid="5" grpId="0" animBg="1"/>
      <p:bldP spid="6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3F742C6-98D2-CBF9-93F8-606909FE3D12}"/>
              </a:ext>
            </a:extLst>
          </p:cNvPr>
          <p:cNvSpPr txBox="1"/>
          <p:nvPr/>
        </p:nvSpPr>
        <p:spPr>
          <a:xfrm>
            <a:off x="310345" y="3604035"/>
            <a:ext cx="783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function(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data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ds,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AF019C-2FA7-11D2-9575-EFAF14171A46}"/>
              </a:ext>
            </a:extLst>
          </p:cNvPr>
          <p:cNvSpPr txBox="1"/>
          <p:nvPr/>
        </p:nvSpPr>
        <p:spPr>
          <a:xfrm>
            <a:off x="292282" y="2567707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Anatomy of a python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FC2FB-2F1E-263E-F8AB-9D2431938456}"/>
              </a:ext>
            </a:extLst>
          </p:cNvPr>
          <p:cNvSpPr txBox="1"/>
          <p:nvPr/>
        </p:nvSpPr>
        <p:spPr>
          <a:xfrm>
            <a:off x="292281" y="3714870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Python objects have methods: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83084-CB67-6DE1-8788-ED4631586302}"/>
              </a:ext>
            </a:extLst>
          </p:cNvPr>
          <p:cNvSpPr txBox="1"/>
          <p:nvPr/>
        </p:nvSpPr>
        <p:spPr>
          <a:xfrm>
            <a:off x="-400858" y="4731339"/>
            <a:ext cx="802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print</a:t>
            </a:r>
            <a:r>
              <a:rPr lang="en-US" sz="2400" dirty="0">
                <a:solidFill>
                  <a:srgbClr val="F8F8F8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(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object.python_method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A14C8CB5-97AA-8351-1DA6-89CCC304BA06}"/>
              </a:ext>
            </a:extLst>
          </p:cNvPr>
          <p:cNvSpPr/>
          <p:nvPr/>
        </p:nvSpPr>
        <p:spPr>
          <a:xfrm rot="16200000">
            <a:off x="649124" y="4987225"/>
            <a:ext cx="318652" cy="785626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2338D-0227-349F-5642-5820059AFD7A}"/>
              </a:ext>
            </a:extLst>
          </p:cNvPr>
          <p:cNvSpPr txBox="1"/>
          <p:nvPr/>
        </p:nvSpPr>
        <p:spPr>
          <a:xfrm>
            <a:off x="276204" y="5518736"/>
            <a:ext cx="1064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Object name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157026FB-A834-97F5-C346-50933011B4D6}"/>
              </a:ext>
            </a:extLst>
          </p:cNvPr>
          <p:cNvSpPr/>
          <p:nvPr/>
        </p:nvSpPr>
        <p:spPr>
          <a:xfrm rot="16200000">
            <a:off x="2205132" y="4340768"/>
            <a:ext cx="318652" cy="2069044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00890C-64CF-DEDE-0A84-F8626FB65E5B}"/>
              </a:ext>
            </a:extLst>
          </p:cNvPr>
          <p:cNvSpPr txBox="1"/>
          <p:nvPr/>
        </p:nvSpPr>
        <p:spPr>
          <a:xfrm>
            <a:off x="1329936" y="5513988"/>
            <a:ext cx="2069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Method name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9BD0B54-9A39-25C2-220F-B63CA7A65BD2}"/>
              </a:ext>
            </a:extLst>
          </p:cNvPr>
          <p:cNvSpPr/>
          <p:nvPr/>
        </p:nvSpPr>
        <p:spPr>
          <a:xfrm rot="16200000">
            <a:off x="5248245" y="3500120"/>
            <a:ext cx="318652" cy="3759836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09FCE-DC80-2D48-B015-E79B8BAB1D99}"/>
              </a:ext>
            </a:extLst>
          </p:cNvPr>
          <p:cNvSpPr txBox="1"/>
          <p:nvPr/>
        </p:nvSpPr>
        <p:spPr>
          <a:xfrm>
            <a:off x="4248726" y="5513988"/>
            <a:ext cx="2392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Methods can take arguments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6C344948-A922-EFD3-5FE4-E5D3BF7087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8319547" y="408096"/>
            <a:ext cx="3635584" cy="4040909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6A1A5FF6-DF13-2E17-C208-79AF0FC11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Python Syntax</a:t>
            </a:r>
          </a:p>
        </p:txBody>
      </p:sp>
    </p:spTree>
    <p:extLst>
      <p:ext uri="{BB962C8B-B14F-4D97-AF65-F5344CB8AC3E}">
        <p14:creationId xmlns:p14="http://schemas.microsoft.com/office/powerpoint/2010/main" val="316296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2" grpId="0" animBg="1"/>
      <p:bldP spid="5" grpId="0"/>
      <p:bldP spid="6" grpId="0" animBg="1"/>
      <p:bldP spid="9" grpId="0"/>
      <p:bldP spid="11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3F742C6-98D2-CBF9-93F8-606909FE3D12}"/>
              </a:ext>
            </a:extLst>
          </p:cNvPr>
          <p:cNvSpPr txBox="1"/>
          <p:nvPr/>
        </p:nvSpPr>
        <p:spPr>
          <a:xfrm>
            <a:off x="310345" y="3604035"/>
            <a:ext cx="783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function(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data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ds,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AF019C-2FA7-11D2-9575-EFAF14171A46}"/>
              </a:ext>
            </a:extLst>
          </p:cNvPr>
          <p:cNvSpPr txBox="1"/>
          <p:nvPr/>
        </p:nvSpPr>
        <p:spPr>
          <a:xfrm>
            <a:off x="292282" y="2567707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Anatomy of a python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FC2FB-2F1E-263E-F8AB-9D2431938456}"/>
              </a:ext>
            </a:extLst>
          </p:cNvPr>
          <p:cNvSpPr txBox="1"/>
          <p:nvPr/>
        </p:nvSpPr>
        <p:spPr>
          <a:xfrm>
            <a:off x="292281" y="3714870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Python objects have methods: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83084-CB67-6DE1-8788-ED4631586302}"/>
              </a:ext>
            </a:extLst>
          </p:cNvPr>
          <p:cNvSpPr txBox="1"/>
          <p:nvPr/>
        </p:nvSpPr>
        <p:spPr>
          <a:xfrm>
            <a:off x="-400858" y="4731339"/>
            <a:ext cx="802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print</a:t>
            </a:r>
            <a:r>
              <a:rPr lang="en-US" sz="2400" dirty="0">
                <a:solidFill>
                  <a:srgbClr val="F8F8F8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(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object.python_method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E57238-28F3-BA3E-6A58-FF5475304538}"/>
              </a:ext>
            </a:extLst>
          </p:cNvPr>
          <p:cNvSpPr txBox="1"/>
          <p:nvPr/>
        </p:nvSpPr>
        <p:spPr>
          <a:xfrm>
            <a:off x="292280" y="4862033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This result could be stored as a new object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EDF57-DFC1-F446-B55C-4AE994A3F4E9}"/>
              </a:ext>
            </a:extLst>
          </p:cNvPr>
          <p:cNvSpPr txBox="1"/>
          <p:nvPr/>
        </p:nvSpPr>
        <p:spPr>
          <a:xfrm>
            <a:off x="-400859" y="5870995"/>
            <a:ext cx="802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Pri</a:t>
            </a:r>
            <a:r>
              <a:rPr lang="en-US" sz="2400" dirty="0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. 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 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newObj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object.python_method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”mean”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))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F7FDDF6-26BD-C4D5-721A-B5A5D2B29E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8319547" y="408096"/>
            <a:ext cx="3635584" cy="404090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2158D59-A0E9-B7B4-C12A-42D894D6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Python Syntax</a:t>
            </a:r>
          </a:p>
        </p:txBody>
      </p:sp>
    </p:spTree>
    <p:extLst>
      <p:ext uri="{BB962C8B-B14F-4D97-AF65-F5344CB8AC3E}">
        <p14:creationId xmlns:p14="http://schemas.microsoft.com/office/powerpoint/2010/main" val="216524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3F742C6-98D2-CBF9-93F8-606909FE3D12}"/>
              </a:ext>
            </a:extLst>
          </p:cNvPr>
          <p:cNvSpPr txBox="1"/>
          <p:nvPr/>
        </p:nvSpPr>
        <p:spPr>
          <a:xfrm>
            <a:off x="310345" y="3604035"/>
            <a:ext cx="783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function(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data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ds,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AF019C-2FA7-11D2-9575-EFAF14171A46}"/>
              </a:ext>
            </a:extLst>
          </p:cNvPr>
          <p:cNvSpPr txBox="1"/>
          <p:nvPr/>
        </p:nvSpPr>
        <p:spPr>
          <a:xfrm>
            <a:off x="292282" y="2567707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Anatomy of a python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FC2FB-2F1E-263E-F8AB-9D2431938456}"/>
              </a:ext>
            </a:extLst>
          </p:cNvPr>
          <p:cNvSpPr txBox="1"/>
          <p:nvPr/>
        </p:nvSpPr>
        <p:spPr>
          <a:xfrm>
            <a:off x="292281" y="3714870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Python objects have methods: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83084-CB67-6DE1-8788-ED4631586302}"/>
              </a:ext>
            </a:extLst>
          </p:cNvPr>
          <p:cNvSpPr txBox="1"/>
          <p:nvPr/>
        </p:nvSpPr>
        <p:spPr>
          <a:xfrm>
            <a:off x="-400858" y="4731339"/>
            <a:ext cx="802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print</a:t>
            </a:r>
            <a:r>
              <a:rPr lang="en-US" sz="2400" dirty="0">
                <a:solidFill>
                  <a:srgbClr val="F8F8F8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(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object.python_method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E57238-28F3-BA3E-6A58-FF5475304538}"/>
              </a:ext>
            </a:extLst>
          </p:cNvPr>
          <p:cNvSpPr txBox="1"/>
          <p:nvPr/>
        </p:nvSpPr>
        <p:spPr>
          <a:xfrm>
            <a:off x="292280" y="4862033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Or printed directly to the console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EDF57-DFC1-F446-B55C-4AE994A3F4E9}"/>
              </a:ext>
            </a:extLst>
          </p:cNvPr>
          <p:cNvSpPr txBox="1"/>
          <p:nvPr/>
        </p:nvSpPr>
        <p:spPr>
          <a:xfrm>
            <a:off x="-400859" y="5870995"/>
            <a:ext cx="802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Pri</a:t>
            </a:r>
            <a:r>
              <a:rPr lang="en-US" sz="2400" dirty="0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.   </a:t>
            </a:r>
            <a:r>
              <a:rPr lang="en-US" sz="2400" dirty="0">
                <a:solidFill>
                  <a:srgbClr val="DAD085"/>
                </a:solidFill>
                <a:latin typeface="Helvetica" pitchFamily="2" charset="0"/>
              </a:rPr>
              <a:t>print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object.python_method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”mean”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))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237335B7-F562-A684-B8EB-CEB0A5F317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8319547" y="408096"/>
            <a:ext cx="3635584" cy="404090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F5AA38A-8D40-082B-703A-CF680222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Python Syntax</a:t>
            </a:r>
          </a:p>
        </p:txBody>
      </p:sp>
    </p:spTree>
    <p:extLst>
      <p:ext uri="{BB962C8B-B14F-4D97-AF65-F5344CB8AC3E}">
        <p14:creationId xmlns:p14="http://schemas.microsoft.com/office/powerpoint/2010/main" val="71850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Script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D5AAF-9281-63C9-9A2D-A521B755B7B6}"/>
              </a:ext>
            </a:extLst>
          </p:cNvPr>
          <p:cNvSpPr txBox="1"/>
          <p:nvPr/>
        </p:nvSpPr>
        <p:spPr>
          <a:xfrm>
            <a:off x="442112" y="1656427"/>
            <a:ext cx="581154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02122"/>
                </a:solidFill>
              </a:rPr>
              <a:t>Installation of python and libraries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202122"/>
                </a:solidFill>
                <a:effectLst/>
              </a:rPr>
              <a:t>Objects, Methods and Functions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02122"/>
                </a:solidFill>
              </a:rPr>
              <a:t>Data Structures and indexing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i="0" dirty="0" err="1">
                <a:solidFill>
                  <a:srgbClr val="202122"/>
                </a:solidFill>
                <a:effectLst/>
              </a:rPr>
              <a:t>Numpy</a:t>
            </a:r>
            <a:endParaRPr lang="en-US" sz="4000" b="0" i="0" dirty="0">
              <a:solidFill>
                <a:srgbClr val="202122"/>
              </a:solidFill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202122"/>
                </a:solidFill>
                <a:effectLst/>
              </a:rPr>
              <a:t>Logic Structures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b="0" i="0" dirty="0">
              <a:solidFill>
                <a:srgbClr val="202122"/>
              </a:solidFill>
              <a:effectLst/>
            </a:endParaRPr>
          </a:p>
          <a:p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DF129C-9587-1FFE-FF47-8EBB69677300}"/>
              </a:ext>
            </a:extLst>
          </p:cNvPr>
          <p:cNvSpPr txBox="1"/>
          <p:nvPr/>
        </p:nvSpPr>
        <p:spPr>
          <a:xfrm>
            <a:off x="6096000" y="1656427"/>
            <a:ext cx="5811543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202122"/>
                </a:solidFill>
                <a:effectLst/>
              </a:rPr>
              <a:t>Loops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02122"/>
                </a:solidFill>
              </a:rPr>
              <a:t>Pandas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202122"/>
                </a:solidFill>
                <a:effectLst/>
              </a:rPr>
              <a:t>Functions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02122"/>
                </a:solidFill>
              </a:rPr>
              <a:t>Data analysis – </a:t>
            </a:r>
            <a:r>
              <a:rPr lang="en-US" sz="4000" dirty="0" err="1">
                <a:solidFill>
                  <a:srgbClr val="202122"/>
                </a:solidFill>
              </a:rPr>
              <a:t>statsmodels</a:t>
            </a:r>
            <a:endParaRPr lang="en-US" sz="4000" dirty="0">
              <a:solidFill>
                <a:srgbClr val="202122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rgbClr val="202122"/>
                </a:solidFill>
              </a:rPr>
              <a:t>Scipy</a:t>
            </a:r>
            <a:endParaRPr lang="en-US" sz="4000" dirty="0">
              <a:solidFill>
                <a:srgbClr val="202122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02122"/>
                </a:solidFill>
              </a:rPr>
              <a:t>Graphics - seaborn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202122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b="0" i="0" dirty="0">
              <a:solidFill>
                <a:srgbClr val="202122"/>
              </a:solidFill>
              <a:effectLst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b="0" i="0" dirty="0">
              <a:solidFill>
                <a:srgbClr val="202122"/>
              </a:solidFill>
              <a:effectLst/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02940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C6CAE85B-0016-6AE9-0F01-92A419A08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94" r="44270" b="998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2FB939-C4DD-9C46-8076-DCFC0E40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96" y="1046948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Jumping into some code</a:t>
            </a:r>
          </a:p>
        </p:txBody>
      </p:sp>
    </p:spTree>
    <p:extLst>
      <p:ext uri="{BB962C8B-B14F-4D97-AF65-F5344CB8AC3E}">
        <p14:creationId xmlns:p14="http://schemas.microsoft.com/office/powerpoint/2010/main" val="1317983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7953</TotalTime>
  <Words>567</Words>
  <Application>Microsoft Macintosh PowerPoint</Application>
  <PresentationFormat>Widescreen</PresentationFormat>
  <Paragraphs>124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Avenir Next LT Pro Demi</vt:lpstr>
      <vt:lpstr>Calibri</vt:lpstr>
      <vt:lpstr>Calibri Light</vt:lpstr>
      <vt:lpstr>Helvetica</vt:lpstr>
      <vt:lpstr>Posterama</vt:lpstr>
      <vt:lpstr>Office Theme</vt:lpstr>
      <vt:lpstr>PowerPoint Presentation</vt:lpstr>
      <vt:lpstr>What are we doing today?</vt:lpstr>
      <vt:lpstr>What is Python?</vt:lpstr>
      <vt:lpstr>Python History</vt:lpstr>
      <vt:lpstr>Python Culture</vt:lpstr>
      <vt:lpstr>What is it good for?</vt:lpstr>
      <vt:lpstr>What sites/apps use it?</vt:lpstr>
      <vt:lpstr>Python Versions</vt:lpstr>
      <vt:lpstr>A focus on community modules</vt:lpstr>
      <vt:lpstr>Using python as an R User</vt:lpstr>
      <vt:lpstr>R Studio with Reticulate</vt:lpstr>
      <vt:lpstr>Python Syntax</vt:lpstr>
      <vt:lpstr>Python Syntax</vt:lpstr>
      <vt:lpstr>Python Syntax</vt:lpstr>
      <vt:lpstr>Python Syntax</vt:lpstr>
      <vt:lpstr>Python Syntax</vt:lpstr>
      <vt:lpstr>Script Roadmap</vt:lpstr>
      <vt:lpstr>Jumping into some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Phillip Burnham</dc:creator>
  <cp:lastModifiedBy>Phillip Burnham</cp:lastModifiedBy>
  <cp:revision>41</cp:revision>
  <dcterms:created xsi:type="dcterms:W3CDTF">2021-08-24T13:05:44Z</dcterms:created>
  <dcterms:modified xsi:type="dcterms:W3CDTF">2023-06-13T18:34:47Z</dcterms:modified>
</cp:coreProperties>
</file>